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Poppins" charset="1" panose="00000500000000000000"/>
      <p:regular r:id="rId17"/>
    </p:embeddedFont>
    <p:embeddedFont>
      <p:font typeface="Poppins Bold" charset="1" panose="000008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jpeg" Type="http://schemas.openxmlformats.org/officeDocument/2006/relationships/image"/><Relationship Id="rId4"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5.jpeg" Type="http://schemas.openxmlformats.org/officeDocument/2006/relationships/image"/><Relationship Id="rId4" Target="../media/image6.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4.jpeg" Type="http://schemas.openxmlformats.org/officeDocument/2006/relationships/image"/><Relationship Id="rId4" Target="../media/image15.jpeg" Type="http://schemas.openxmlformats.org/officeDocument/2006/relationships/image"/><Relationship Id="rId5" Target="../media/image16.jpeg" Type="http://schemas.openxmlformats.org/officeDocument/2006/relationships/image"/><Relationship Id="rId6"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30300" y="4057750"/>
            <a:ext cx="3086100" cy="2171499"/>
            <a:chOff x="0" y="0"/>
            <a:chExt cx="812800" cy="571917"/>
          </a:xfrm>
        </p:grpSpPr>
        <p:sp>
          <p:nvSpPr>
            <p:cNvPr name="Freeform 4" id="4"/>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54E9CD"/>
            </a:solidFill>
          </p:spPr>
        </p:sp>
        <p:sp>
          <p:nvSpPr>
            <p:cNvPr name="TextBox 5" id="5"/>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6467343" y="4057750"/>
            <a:ext cx="3086100" cy="2171499"/>
            <a:chOff x="0" y="0"/>
            <a:chExt cx="812800" cy="571917"/>
          </a:xfrm>
        </p:grpSpPr>
        <p:sp>
          <p:nvSpPr>
            <p:cNvPr name="Freeform 7" id="7"/>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54E9CD"/>
            </a:solidFill>
          </p:spPr>
        </p:sp>
        <p:sp>
          <p:nvSpPr>
            <p:cNvPr name="TextBox 8" id="8"/>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7011013" y="2331933"/>
            <a:ext cx="3407707" cy="1725818"/>
          </a:xfrm>
          <a:custGeom>
            <a:avLst/>
            <a:gdLst/>
            <a:ahLst/>
            <a:cxnLst/>
            <a:rect r="r" b="b" t="t" l="l"/>
            <a:pathLst>
              <a:path h="1725818" w="3407707">
                <a:moveTo>
                  <a:pt x="0" y="0"/>
                </a:moveTo>
                <a:lnTo>
                  <a:pt x="3407706" y="0"/>
                </a:lnTo>
                <a:lnTo>
                  <a:pt x="3407706" y="1725817"/>
                </a:lnTo>
                <a:lnTo>
                  <a:pt x="0" y="1725817"/>
                </a:lnTo>
                <a:lnTo>
                  <a:pt x="0" y="0"/>
                </a:lnTo>
                <a:close/>
              </a:path>
            </a:pathLst>
          </a:custGeom>
          <a:blipFill>
            <a:blip r:embed="rId3"/>
            <a:stretch>
              <a:fillRect l="0" t="0" r="-87384" b="0"/>
            </a:stretch>
          </a:blipFill>
        </p:spPr>
      </p:sp>
      <p:sp>
        <p:nvSpPr>
          <p:cNvPr name="TextBox 10" id="10"/>
          <p:cNvSpPr txBox="true"/>
          <p:nvPr/>
        </p:nvSpPr>
        <p:spPr>
          <a:xfrm rot="0">
            <a:off x="4370096" y="3972025"/>
            <a:ext cx="8526827" cy="509403"/>
          </a:xfrm>
          <a:prstGeom prst="rect">
            <a:avLst/>
          </a:prstGeom>
        </p:spPr>
        <p:txBody>
          <a:bodyPr anchor="t" rtlCol="false" tIns="0" lIns="0" bIns="0" rIns="0">
            <a:spAutoFit/>
          </a:bodyPr>
          <a:lstStyle/>
          <a:p>
            <a:pPr algn="ctr">
              <a:lnSpc>
                <a:spcPts val="3947"/>
              </a:lnSpc>
              <a:spcBef>
                <a:spcPct val="0"/>
              </a:spcBef>
            </a:pPr>
            <a:r>
              <a:rPr lang="en-US" sz="2819">
                <a:solidFill>
                  <a:srgbClr val="303642"/>
                </a:solidFill>
                <a:latin typeface="Poppins"/>
                <a:ea typeface="Poppins"/>
                <a:cs typeface="Poppins"/>
                <a:sym typeface="Poppins"/>
              </a:rPr>
              <a:t>“Make better choices, every time”</a:t>
            </a:r>
          </a:p>
        </p:txBody>
      </p:sp>
      <p:sp>
        <p:nvSpPr>
          <p:cNvPr name="TextBox 11" id="11"/>
          <p:cNvSpPr txBox="true"/>
          <p:nvPr/>
        </p:nvSpPr>
        <p:spPr>
          <a:xfrm rot="0">
            <a:off x="4370096" y="5105300"/>
            <a:ext cx="12097246" cy="2209800"/>
          </a:xfrm>
          <a:prstGeom prst="rect">
            <a:avLst/>
          </a:prstGeom>
        </p:spPr>
        <p:txBody>
          <a:bodyPr anchor="t" rtlCol="false" tIns="0" lIns="0" bIns="0" rIns="0">
            <a:spAutoFit/>
          </a:bodyPr>
          <a:lstStyle/>
          <a:p>
            <a:pPr algn="l">
              <a:lnSpc>
                <a:spcPts val="4320"/>
              </a:lnSpc>
              <a:spcBef>
                <a:spcPct val="0"/>
              </a:spcBef>
            </a:pPr>
            <a:r>
              <a:rPr lang="en-US" b="true" sz="3600">
                <a:solidFill>
                  <a:srgbClr val="303642"/>
                </a:solidFill>
                <a:latin typeface="Poppins Bold"/>
                <a:ea typeface="Poppins Bold"/>
                <a:cs typeface="Poppins Bold"/>
                <a:sym typeface="Poppins Bold"/>
              </a:rPr>
              <a:t>Project Name: </a:t>
            </a:r>
            <a:r>
              <a:rPr lang="en-US" sz="3600">
                <a:solidFill>
                  <a:srgbClr val="303642"/>
                </a:solidFill>
                <a:latin typeface="Poppins"/>
                <a:ea typeface="Poppins"/>
                <a:cs typeface="Poppins"/>
                <a:sym typeface="Poppins"/>
              </a:rPr>
              <a:t>AutoLife Guardian </a:t>
            </a:r>
          </a:p>
          <a:p>
            <a:pPr algn="l">
              <a:lnSpc>
                <a:spcPts val="4320"/>
              </a:lnSpc>
              <a:spcBef>
                <a:spcPct val="0"/>
              </a:spcBef>
            </a:pPr>
            <a:r>
              <a:rPr lang="en-US" b="true" sz="3600">
                <a:solidFill>
                  <a:srgbClr val="303642"/>
                </a:solidFill>
                <a:latin typeface="Poppins Bold"/>
                <a:ea typeface="Poppins Bold"/>
                <a:cs typeface="Poppins Bold"/>
                <a:sym typeface="Poppins Bold"/>
              </a:rPr>
              <a:t>Subtitle:</a:t>
            </a:r>
            <a:r>
              <a:rPr lang="en-US" sz="3600">
                <a:solidFill>
                  <a:srgbClr val="303642"/>
                </a:solidFill>
                <a:latin typeface="Poppins"/>
                <a:ea typeface="Poppins"/>
                <a:cs typeface="Poppins"/>
                <a:sym typeface="Poppins"/>
              </a:rPr>
              <a:t> AI-Powered Pre-Decision Protection System</a:t>
            </a:r>
            <a:r>
              <a:rPr lang="en-US" b="true" sz="3600">
                <a:solidFill>
                  <a:srgbClr val="303642"/>
                </a:solidFill>
                <a:latin typeface="Poppins Bold"/>
                <a:ea typeface="Poppins Bold"/>
                <a:cs typeface="Poppins Bold"/>
                <a:sym typeface="Poppins Bold"/>
              </a:rPr>
              <a:t> </a:t>
            </a:r>
          </a:p>
          <a:p>
            <a:pPr algn="l">
              <a:lnSpc>
                <a:spcPts val="4320"/>
              </a:lnSpc>
              <a:spcBef>
                <a:spcPct val="0"/>
              </a:spcBef>
            </a:pPr>
            <a:r>
              <a:rPr lang="en-US" b="true" sz="3600">
                <a:solidFill>
                  <a:srgbClr val="303642"/>
                </a:solidFill>
                <a:latin typeface="Poppins Bold"/>
                <a:ea typeface="Poppins Bold"/>
                <a:cs typeface="Poppins Bold"/>
                <a:sym typeface="Poppins Bold"/>
              </a:rPr>
              <a:t>Team: </a:t>
            </a:r>
            <a:r>
              <a:rPr lang="en-US" sz="3600">
                <a:solidFill>
                  <a:srgbClr val="303642"/>
                </a:solidFill>
                <a:latin typeface="Poppins"/>
                <a:ea typeface="Poppins"/>
                <a:cs typeface="Poppins"/>
                <a:sym typeface="Poppins"/>
              </a:rPr>
              <a:t>Team Sentinel AI </a:t>
            </a:r>
          </a:p>
          <a:p>
            <a:pPr algn="l">
              <a:lnSpc>
                <a:spcPts val="4320"/>
              </a:lnSpc>
              <a:spcBef>
                <a:spcPct val="0"/>
              </a:spcBef>
            </a:pPr>
            <a:r>
              <a:rPr lang="en-US" b="true" sz="3600">
                <a:solidFill>
                  <a:srgbClr val="303642"/>
                </a:solidFill>
                <a:latin typeface="Poppins Bold"/>
                <a:ea typeface="Poppins Bold"/>
                <a:cs typeface="Poppins Bold"/>
                <a:sym typeface="Poppins Bold"/>
              </a:rPr>
              <a:t>Date:</a:t>
            </a:r>
            <a:r>
              <a:rPr lang="en-US" sz="3600">
                <a:solidFill>
                  <a:srgbClr val="303642"/>
                </a:solidFill>
                <a:latin typeface="Poppins"/>
                <a:ea typeface="Poppins"/>
                <a:cs typeface="Poppins"/>
                <a:sym typeface="Poppins"/>
              </a:rPr>
              <a:t> 23/03/2026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13573" y="2320682"/>
            <a:ext cx="9635750" cy="6937618"/>
            <a:chOff x="0" y="0"/>
            <a:chExt cx="10176254" cy="7326774"/>
          </a:xfrm>
        </p:grpSpPr>
        <p:sp>
          <p:nvSpPr>
            <p:cNvPr name="Freeform 3" id="3"/>
            <p:cNvSpPr/>
            <p:nvPr/>
          </p:nvSpPr>
          <p:spPr>
            <a:xfrm flipH="false" flipV="false" rot="0">
              <a:off x="22019" y="87224"/>
              <a:ext cx="10132200" cy="7152328"/>
            </a:xfrm>
            <a:custGeom>
              <a:avLst/>
              <a:gdLst/>
              <a:ahLst/>
              <a:cxnLst/>
              <a:rect r="r" b="b" t="t" l="l"/>
              <a:pathLst>
                <a:path h="7152328" w="10132200">
                  <a:moveTo>
                    <a:pt x="0" y="1192127"/>
                  </a:moveTo>
                  <a:cubicBezTo>
                    <a:pt x="0" y="533807"/>
                    <a:pt x="137398" y="0"/>
                    <a:pt x="306943" y="0"/>
                  </a:cubicBezTo>
                  <a:lnTo>
                    <a:pt x="9825257" y="0"/>
                  </a:lnTo>
                  <a:cubicBezTo>
                    <a:pt x="9994747" y="0"/>
                    <a:pt x="10132200" y="533807"/>
                    <a:pt x="10132200" y="1192127"/>
                  </a:cubicBezTo>
                  <a:lnTo>
                    <a:pt x="10132200" y="5960199"/>
                  </a:lnTo>
                  <a:cubicBezTo>
                    <a:pt x="10132200" y="6618519"/>
                    <a:pt x="9994802" y="7152327"/>
                    <a:pt x="9825257" y="7152327"/>
                  </a:cubicBezTo>
                  <a:lnTo>
                    <a:pt x="306943" y="7152327"/>
                  </a:lnTo>
                  <a:cubicBezTo>
                    <a:pt x="137398" y="7152327"/>
                    <a:pt x="0" y="6618519"/>
                    <a:pt x="0" y="5960199"/>
                  </a:cubicBezTo>
                  <a:close/>
                </a:path>
              </a:pathLst>
            </a:custGeom>
            <a:solidFill>
              <a:srgbClr val="54E9CD"/>
            </a:solidFill>
          </p:spPr>
        </p:sp>
        <p:sp>
          <p:nvSpPr>
            <p:cNvPr name="Freeform 4" id="4"/>
            <p:cNvSpPr/>
            <p:nvPr/>
          </p:nvSpPr>
          <p:spPr>
            <a:xfrm flipH="false" flipV="false" rot="0">
              <a:off x="0" y="0"/>
              <a:ext cx="10176238" cy="7326774"/>
            </a:xfrm>
            <a:custGeom>
              <a:avLst/>
              <a:gdLst/>
              <a:ahLst/>
              <a:cxnLst/>
              <a:rect r="r" b="b" t="t" l="l"/>
              <a:pathLst>
                <a:path h="7326774" w="10176238">
                  <a:moveTo>
                    <a:pt x="0" y="1279351"/>
                  </a:moveTo>
                  <a:cubicBezTo>
                    <a:pt x="0" y="571096"/>
                    <a:pt x="147692" y="0"/>
                    <a:pt x="328962" y="0"/>
                  </a:cubicBezTo>
                  <a:lnTo>
                    <a:pt x="9847276" y="0"/>
                  </a:lnTo>
                  <a:lnTo>
                    <a:pt x="9847276" y="87224"/>
                  </a:lnTo>
                  <a:lnTo>
                    <a:pt x="9847276" y="0"/>
                  </a:lnTo>
                  <a:cubicBezTo>
                    <a:pt x="10028547" y="0"/>
                    <a:pt x="10176238" y="571096"/>
                    <a:pt x="10176238" y="1279351"/>
                  </a:cubicBezTo>
                  <a:lnTo>
                    <a:pt x="10154219" y="1279351"/>
                  </a:lnTo>
                  <a:lnTo>
                    <a:pt x="10176238" y="1279351"/>
                  </a:lnTo>
                  <a:lnTo>
                    <a:pt x="10176238" y="6047423"/>
                  </a:lnTo>
                  <a:lnTo>
                    <a:pt x="10154219" y="6047423"/>
                  </a:lnTo>
                  <a:lnTo>
                    <a:pt x="10176238" y="6047423"/>
                  </a:lnTo>
                  <a:cubicBezTo>
                    <a:pt x="10176238" y="6755678"/>
                    <a:pt x="10028547" y="7326774"/>
                    <a:pt x="9847276" y="7326774"/>
                  </a:cubicBezTo>
                  <a:lnTo>
                    <a:pt x="9847276" y="7239551"/>
                  </a:lnTo>
                  <a:lnTo>
                    <a:pt x="9847276" y="7326774"/>
                  </a:lnTo>
                  <a:lnTo>
                    <a:pt x="328962" y="7326774"/>
                  </a:lnTo>
                  <a:lnTo>
                    <a:pt x="328962" y="7239551"/>
                  </a:lnTo>
                  <a:lnTo>
                    <a:pt x="328962" y="7326774"/>
                  </a:lnTo>
                  <a:cubicBezTo>
                    <a:pt x="147692" y="7326774"/>
                    <a:pt x="0" y="6755678"/>
                    <a:pt x="0" y="6047423"/>
                  </a:cubicBezTo>
                  <a:lnTo>
                    <a:pt x="0" y="1279351"/>
                  </a:lnTo>
                  <a:lnTo>
                    <a:pt x="22019" y="1279351"/>
                  </a:lnTo>
                  <a:lnTo>
                    <a:pt x="0" y="1279351"/>
                  </a:lnTo>
                  <a:moveTo>
                    <a:pt x="44038" y="1279351"/>
                  </a:moveTo>
                  <a:lnTo>
                    <a:pt x="44038" y="6047423"/>
                  </a:lnTo>
                  <a:lnTo>
                    <a:pt x="22019" y="6047423"/>
                  </a:lnTo>
                  <a:lnTo>
                    <a:pt x="44038" y="6047423"/>
                  </a:lnTo>
                  <a:cubicBezTo>
                    <a:pt x="44038" y="6656026"/>
                    <a:pt x="171197" y="7152327"/>
                    <a:pt x="328962" y="7152327"/>
                  </a:cubicBezTo>
                  <a:lnTo>
                    <a:pt x="9847276" y="7152327"/>
                  </a:lnTo>
                  <a:cubicBezTo>
                    <a:pt x="10005041" y="7152327"/>
                    <a:pt x="10132200" y="6656026"/>
                    <a:pt x="10132200" y="6047424"/>
                  </a:cubicBezTo>
                  <a:lnTo>
                    <a:pt x="10132200" y="1279351"/>
                  </a:lnTo>
                  <a:cubicBezTo>
                    <a:pt x="10132200" y="670749"/>
                    <a:pt x="10005041" y="174447"/>
                    <a:pt x="9847276" y="174447"/>
                  </a:cubicBezTo>
                  <a:lnTo>
                    <a:pt x="328962" y="174447"/>
                  </a:lnTo>
                  <a:lnTo>
                    <a:pt x="328962" y="87224"/>
                  </a:lnTo>
                  <a:lnTo>
                    <a:pt x="328962" y="174447"/>
                  </a:lnTo>
                  <a:cubicBezTo>
                    <a:pt x="171197" y="174447"/>
                    <a:pt x="44038" y="670749"/>
                    <a:pt x="44038" y="1279351"/>
                  </a:cubicBezTo>
                  <a:close/>
                </a:path>
              </a:pathLst>
            </a:custGeom>
            <a:solidFill>
              <a:srgbClr val="54E9CD"/>
            </a:solidFill>
          </p:spPr>
        </p:sp>
      </p:grpSp>
      <p:grpSp>
        <p:nvGrpSpPr>
          <p:cNvPr name="Group 5" id="5"/>
          <p:cNvGrpSpPr/>
          <p:nvPr/>
        </p:nvGrpSpPr>
        <p:grpSpPr>
          <a:xfrm rot="0">
            <a:off x="0" y="375066"/>
            <a:ext cx="8514112" cy="1246537"/>
            <a:chOff x="0" y="0"/>
            <a:chExt cx="11352149" cy="1662049"/>
          </a:xfrm>
        </p:grpSpPr>
        <p:sp>
          <p:nvSpPr>
            <p:cNvPr name="Freeform 6" id="6"/>
            <p:cNvSpPr/>
            <p:nvPr/>
          </p:nvSpPr>
          <p:spPr>
            <a:xfrm flipH="false" flipV="false" rot="0">
              <a:off x="0" y="0"/>
              <a:ext cx="11352149" cy="1662049"/>
            </a:xfrm>
            <a:custGeom>
              <a:avLst/>
              <a:gdLst/>
              <a:ahLst/>
              <a:cxnLst/>
              <a:rect r="r" b="b" t="t" l="l"/>
              <a:pathLst>
                <a:path h="1662049" w="11352149">
                  <a:moveTo>
                    <a:pt x="0" y="0"/>
                  </a:moveTo>
                  <a:lnTo>
                    <a:pt x="11352149" y="0"/>
                  </a:lnTo>
                  <a:lnTo>
                    <a:pt x="11352149" y="1662049"/>
                  </a:lnTo>
                  <a:lnTo>
                    <a:pt x="0" y="1662049"/>
                  </a:lnTo>
                  <a:close/>
                </a:path>
              </a:pathLst>
            </a:custGeom>
            <a:solidFill>
              <a:srgbClr val="54E9CD"/>
            </a:solidFill>
          </p:spPr>
        </p:sp>
      </p:grpSp>
      <p:grpSp>
        <p:nvGrpSpPr>
          <p:cNvPr name="Group 7" id="7"/>
          <p:cNvGrpSpPr/>
          <p:nvPr/>
        </p:nvGrpSpPr>
        <p:grpSpPr>
          <a:xfrm rot="0">
            <a:off x="7897501" y="375066"/>
            <a:ext cx="1246442" cy="1246442"/>
            <a:chOff x="0" y="0"/>
            <a:chExt cx="1661922" cy="1661922"/>
          </a:xfrm>
        </p:grpSpPr>
        <p:sp>
          <p:nvSpPr>
            <p:cNvPr name="Freeform 8" id="8"/>
            <p:cNvSpPr/>
            <p:nvPr/>
          </p:nvSpPr>
          <p:spPr>
            <a:xfrm flipH="false" flipV="false" rot="0">
              <a:off x="0" y="0"/>
              <a:ext cx="1661922" cy="1661922"/>
            </a:xfrm>
            <a:custGeom>
              <a:avLst/>
              <a:gdLst/>
              <a:ahLst/>
              <a:cxnLst/>
              <a:rect r="r" b="b" t="t" l="l"/>
              <a:pathLst>
                <a:path h="1661922" w="1661922">
                  <a:moveTo>
                    <a:pt x="0" y="830961"/>
                  </a:moveTo>
                  <a:cubicBezTo>
                    <a:pt x="0" y="1289939"/>
                    <a:pt x="372110" y="1661922"/>
                    <a:pt x="830961" y="1661922"/>
                  </a:cubicBezTo>
                  <a:cubicBezTo>
                    <a:pt x="1289812" y="1661922"/>
                    <a:pt x="1661922" y="1289812"/>
                    <a:pt x="1661922" y="830961"/>
                  </a:cubicBezTo>
                  <a:cubicBezTo>
                    <a:pt x="1661922" y="372110"/>
                    <a:pt x="1289939" y="0"/>
                    <a:pt x="830961" y="0"/>
                  </a:cubicBezTo>
                  <a:cubicBezTo>
                    <a:pt x="371983" y="0"/>
                    <a:pt x="0" y="372110"/>
                    <a:pt x="0" y="830961"/>
                  </a:cubicBezTo>
                  <a:close/>
                </a:path>
              </a:pathLst>
            </a:custGeom>
            <a:solidFill>
              <a:srgbClr val="54E9CD"/>
            </a:solidFill>
          </p:spPr>
        </p:sp>
      </p:grpSp>
      <p:grpSp>
        <p:nvGrpSpPr>
          <p:cNvPr name="Group 9" id="9"/>
          <p:cNvGrpSpPr/>
          <p:nvPr/>
        </p:nvGrpSpPr>
        <p:grpSpPr>
          <a:xfrm rot="0">
            <a:off x="7979826" y="457390"/>
            <a:ext cx="1081850" cy="1081850"/>
            <a:chOff x="0" y="0"/>
            <a:chExt cx="1442466" cy="1442466"/>
          </a:xfrm>
        </p:grpSpPr>
        <p:sp>
          <p:nvSpPr>
            <p:cNvPr name="Freeform 10" id="10"/>
            <p:cNvSpPr/>
            <p:nvPr/>
          </p:nvSpPr>
          <p:spPr>
            <a:xfrm flipH="false" flipV="false" rot="0">
              <a:off x="0" y="0"/>
              <a:ext cx="1442466" cy="1442466"/>
            </a:xfrm>
            <a:custGeom>
              <a:avLst/>
              <a:gdLst/>
              <a:ahLst/>
              <a:cxnLst/>
              <a:rect r="r" b="b" t="t" l="l"/>
              <a:pathLst>
                <a:path h="1442466" w="1442466">
                  <a:moveTo>
                    <a:pt x="0" y="721233"/>
                  </a:moveTo>
                  <a:cubicBezTo>
                    <a:pt x="0" y="1119505"/>
                    <a:pt x="322961" y="1442466"/>
                    <a:pt x="721233" y="1442466"/>
                  </a:cubicBezTo>
                  <a:cubicBezTo>
                    <a:pt x="1119505" y="1442466"/>
                    <a:pt x="1442466" y="1119505"/>
                    <a:pt x="1442466" y="721233"/>
                  </a:cubicBezTo>
                  <a:cubicBezTo>
                    <a:pt x="1442466" y="322961"/>
                    <a:pt x="1119505" y="0"/>
                    <a:pt x="721233" y="0"/>
                  </a:cubicBezTo>
                  <a:cubicBezTo>
                    <a:pt x="322961" y="0"/>
                    <a:pt x="0" y="322961"/>
                    <a:pt x="0" y="721233"/>
                  </a:cubicBezTo>
                  <a:close/>
                </a:path>
              </a:pathLst>
            </a:custGeom>
            <a:solidFill>
              <a:srgbClr val="FFFFFF"/>
            </a:solidFill>
          </p:spPr>
        </p:sp>
      </p:grpSp>
      <p:sp>
        <p:nvSpPr>
          <p:cNvPr name="Freeform 11" id="11"/>
          <p:cNvSpPr/>
          <p:nvPr/>
        </p:nvSpPr>
        <p:spPr>
          <a:xfrm flipH="false" flipV="false" rot="0">
            <a:off x="12052567" y="375066"/>
            <a:ext cx="4766862" cy="1287053"/>
          </a:xfrm>
          <a:custGeom>
            <a:avLst/>
            <a:gdLst/>
            <a:ahLst/>
            <a:cxnLst/>
            <a:rect r="r" b="b" t="t" l="l"/>
            <a:pathLst>
              <a:path h="1287053" w="4766862">
                <a:moveTo>
                  <a:pt x="0" y="0"/>
                </a:moveTo>
                <a:lnTo>
                  <a:pt x="4766862" y="0"/>
                </a:lnTo>
                <a:lnTo>
                  <a:pt x="4766862" y="1287053"/>
                </a:lnTo>
                <a:lnTo>
                  <a:pt x="0" y="1287053"/>
                </a:lnTo>
                <a:lnTo>
                  <a:pt x="0" y="0"/>
                </a:lnTo>
                <a:close/>
              </a:path>
            </a:pathLst>
          </a:custGeom>
          <a:blipFill>
            <a:blip r:embed="rId2"/>
            <a:stretch>
              <a:fillRect l="0" t="0" r="0" b="0"/>
            </a:stretch>
          </a:blipFill>
        </p:spPr>
      </p:sp>
      <p:grpSp>
        <p:nvGrpSpPr>
          <p:cNvPr name="Group 12" id="12"/>
          <p:cNvGrpSpPr/>
          <p:nvPr/>
        </p:nvGrpSpPr>
        <p:grpSpPr>
          <a:xfrm rot="0">
            <a:off x="11138955" y="1675043"/>
            <a:ext cx="5378154" cy="3468457"/>
            <a:chOff x="0" y="0"/>
            <a:chExt cx="2454275" cy="1582801"/>
          </a:xfrm>
        </p:grpSpPr>
        <p:sp>
          <p:nvSpPr>
            <p:cNvPr name="Freeform 13" id="13"/>
            <p:cNvSpPr/>
            <p:nvPr/>
          </p:nvSpPr>
          <p:spPr>
            <a:xfrm flipH="false" flipV="false" rot="0">
              <a:off x="-139" y="0"/>
              <a:ext cx="2454287" cy="1582674"/>
            </a:xfrm>
            <a:custGeom>
              <a:avLst/>
              <a:gdLst/>
              <a:ahLst/>
              <a:cxnLst/>
              <a:rect r="r" b="b" t="t" l="l"/>
              <a:pathLst>
                <a:path h="1582674" w="2454287">
                  <a:moveTo>
                    <a:pt x="2438158" y="184404"/>
                  </a:moveTo>
                  <a:cubicBezTo>
                    <a:pt x="2437777" y="123444"/>
                    <a:pt x="2447175" y="6604"/>
                    <a:pt x="2447175" y="6604"/>
                  </a:cubicBezTo>
                  <a:lnTo>
                    <a:pt x="2302268" y="4318"/>
                  </a:lnTo>
                  <a:lnTo>
                    <a:pt x="2096782" y="14097"/>
                  </a:lnTo>
                  <a:cubicBezTo>
                    <a:pt x="2096782" y="14097"/>
                    <a:pt x="1763153" y="-1905"/>
                    <a:pt x="1731276" y="13081"/>
                  </a:cubicBezTo>
                  <a:cubicBezTo>
                    <a:pt x="1699272" y="28067"/>
                    <a:pt x="1633359" y="4318"/>
                    <a:pt x="1633359" y="4318"/>
                  </a:cubicBezTo>
                  <a:lnTo>
                    <a:pt x="920508" y="2413"/>
                  </a:lnTo>
                  <a:lnTo>
                    <a:pt x="629551" y="1651"/>
                  </a:lnTo>
                  <a:lnTo>
                    <a:pt x="402602" y="9525"/>
                  </a:lnTo>
                  <a:lnTo>
                    <a:pt x="138823" y="8763"/>
                  </a:lnTo>
                  <a:lnTo>
                    <a:pt x="38747" y="0"/>
                  </a:lnTo>
                  <a:cubicBezTo>
                    <a:pt x="22872" y="0"/>
                    <a:pt x="10045" y="12700"/>
                    <a:pt x="10045" y="28575"/>
                  </a:cubicBezTo>
                  <a:lnTo>
                    <a:pt x="26301" y="273685"/>
                  </a:lnTo>
                  <a:lnTo>
                    <a:pt x="8521" y="545084"/>
                  </a:lnTo>
                  <a:lnTo>
                    <a:pt x="6362" y="937006"/>
                  </a:lnTo>
                  <a:lnTo>
                    <a:pt x="14363" y="1115822"/>
                  </a:lnTo>
                  <a:cubicBezTo>
                    <a:pt x="14363" y="1115822"/>
                    <a:pt x="-10656" y="1156970"/>
                    <a:pt x="5346" y="1316990"/>
                  </a:cubicBezTo>
                  <a:cubicBezTo>
                    <a:pt x="21348" y="1477010"/>
                    <a:pt x="38620" y="1572260"/>
                    <a:pt x="38620" y="1572260"/>
                  </a:cubicBezTo>
                  <a:lnTo>
                    <a:pt x="122186" y="1572514"/>
                  </a:lnTo>
                  <a:lnTo>
                    <a:pt x="294906" y="1556004"/>
                  </a:lnTo>
                  <a:lnTo>
                    <a:pt x="521855" y="1573530"/>
                  </a:lnTo>
                  <a:lnTo>
                    <a:pt x="760488" y="1582674"/>
                  </a:lnTo>
                  <a:lnTo>
                    <a:pt x="895870" y="1557528"/>
                  </a:lnTo>
                  <a:lnTo>
                    <a:pt x="998105" y="1574800"/>
                  </a:lnTo>
                  <a:lnTo>
                    <a:pt x="1698129" y="1576705"/>
                  </a:lnTo>
                  <a:lnTo>
                    <a:pt x="1941080" y="1577340"/>
                  </a:lnTo>
                  <a:lnTo>
                    <a:pt x="2177935" y="1567688"/>
                  </a:lnTo>
                  <a:lnTo>
                    <a:pt x="2364244" y="1578483"/>
                  </a:lnTo>
                  <a:lnTo>
                    <a:pt x="2441714" y="1578737"/>
                  </a:lnTo>
                  <a:lnTo>
                    <a:pt x="2442095" y="1430782"/>
                  </a:lnTo>
                  <a:lnTo>
                    <a:pt x="2442349" y="1317117"/>
                  </a:lnTo>
                  <a:lnTo>
                    <a:pt x="2434475" y="1111631"/>
                  </a:lnTo>
                  <a:lnTo>
                    <a:pt x="2443365" y="943483"/>
                  </a:lnTo>
                  <a:lnTo>
                    <a:pt x="2445143" y="669671"/>
                  </a:lnTo>
                  <a:lnTo>
                    <a:pt x="2454287" y="422656"/>
                  </a:lnTo>
                  <a:cubicBezTo>
                    <a:pt x="2454287" y="422656"/>
                    <a:pt x="2438285" y="245110"/>
                    <a:pt x="2437904" y="184150"/>
                  </a:cubicBezTo>
                  <a:close/>
                </a:path>
              </a:pathLst>
            </a:custGeom>
            <a:blipFill>
              <a:blip r:embed="rId3"/>
              <a:stretch>
                <a:fillRect l="0" t="0" r="-15153" b="0"/>
              </a:stretch>
            </a:blipFill>
          </p:spPr>
        </p:sp>
      </p:grpSp>
      <p:grpSp>
        <p:nvGrpSpPr>
          <p:cNvPr name="Group 14" id="14"/>
          <p:cNvGrpSpPr/>
          <p:nvPr/>
        </p:nvGrpSpPr>
        <p:grpSpPr>
          <a:xfrm rot="0">
            <a:off x="11441275" y="5502785"/>
            <a:ext cx="5378154" cy="3468457"/>
            <a:chOff x="0" y="0"/>
            <a:chExt cx="2454275" cy="1582801"/>
          </a:xfrm>
        </p:grpSpPr>
        <p:sp>
          <p:nvSpPr>
            <p:cNvPr name="Freeform 15" id="15"/>
            <p:cNvSpPr/>
            <p:nvPr/>
          </p:nvSpPr>
          <p:spPr>
            <a:xfrm flipH="false" flipV="false" rot="0">
              <a:off x="-139" y="0"/>
              <a:ext cx="2454287" cy="1582674"/>
            </a:xfrm>
            <a:custGeom>
              <a:avLst/>
              <a:gdLst/>
              <a:ahLst/>
              <a:cxnLst/>
              <a:rect r="r" b="b" t="t" l="l"/>
              <a:pathLst>
                <a:path h="1582674" w="2454287">
                  <a:moveTo>
                    <a:pt x="2438158" y="184404"/>
                  </a:moveTo>
                  <a:cubicBezTo>
                    <a:pt x="2437777" y="123444"/>
                    <a:pt x="2447175" y="6604"/>
                    <a:pt x="2447175" y="6604"/>
                  </a:cubicBezTo>
                  <a:lnTo>
                    <a:pt x="2302268" y="4318"/>
                  </a:lnTo>
                  <a:lnTo>
                    <a:pt x="2096782" y="14097"/>
                  </a:lnTo>
                  <a:cubicBezTo>
                    <a:pt x="2096782" y="14097"/>
                    <a:pt x="1763153" y="-1905"/>
                    <a:pt x="1731276" y="13081"/>
                  </a:cubicBezTo>
                  <a:cubicBezTo>
                    <a:pt x="1699272" y="28067"/>
                    <a:pt x="1633359" y="4318"/>
                    <a:pt x="1633359" y="4318"/>
                  </a:cubicBezTo>
                  <a:lnTo>
                    <a:pt x="920508" y="2413"/>
                  </a:lnTo>
                  <a:lnTo>
                    <a:pt x="629551" y="1651"/>
                  </a:lnTo>
                  <a:lnTo>
                    <a:pt x="402602" y="9525"/>
                  </a:lnTo>
                  <a:lnTo>
                    <a:pt x="138823" y="8763"/>
                  </a:lnTo>
                  <a:lnTo>
                    <a:pt x="38747" y="0"/>
                  </a:lnTo>
                  <a:cubicBezTo>
                    <a:pt x="22872" y="0"/>
                    <a:pt x="10045" y="12700"/>
                    <a:pt x="10045" y="28575"/>
                  </a:cubicBezTo>
                  <a:lnTo>
                    <a:pt x="26301" y="273685"/>
                  </a:lnTo>
                  <a:lnTo>
                    <a:pt x="8521" y="545084"/>
                  </a:lnTo>
                  <a:lnTo>
                    <a:pt x="6362" y="937006"/>
                  </a:lnTo>
                  <a:lnTo>
                    <a:pt x="14363" y="1115822"/>
                  </a:lnTo>
                  <a:cubicBezTo>
                    <a:pt x="14363" y="1115822"/>
                    <a:pt x="-10656" y="1156970"/>
                    <a:pt x="5346" y="1316990"/>
                  </a:cubicBezTo>
                  <a:cubicBezTo>
                    <a:pt x="21348" y="1477010"/>
                    <a:pt x="38620" y="1572260"/>
                    <a:pt x="38620" y="1572260"/>
                  </a:cubicBezTo>
                  <a:lnTo>
                    <a:pt x="122186" y="1572514"/>
                  </a:lnTo>
                  <a:lnTo>
                    <a:pt x="294906" y="1556004"/>
                  </a:lnTo>
                  <a:lnTo>
                    <a:pt x="521855" y="1573530"/>
                  </a:lnTo>
                  <a:lnTo>
                    <a:pt x="760488" y="1582674"/>
                  </a:lnTo>
                  <a:lnTo>
                    <a:pt x="895870" y="1557528"/>
                  </a:lnTo>
                  <a:lnTo>
                    <a:pt x="998105" y="1574800"/>
                  </a:lnTo>
                  <a:lnTo>
                    <a:pt x="1698129" y="1576705"/>
                  </a:lnTo>
                  <a:lnTo>
                    <a:pt x="1941080" y="1577340"/>
                  </a:lnTo>
                  <a:lnTo>
                    <a:pt x="2177935" y="1567688"/>
                  </a:lnTo>
                  <a:lnTo>
                    <a:pt x="2364244" y="1578483"/>
                  </a:lnTo>
                  <a:lnTo>
                    <a:pt x="2441714" y="1578737"/>
                  </a:lnTo>
                  <a:lnTo>
                    <a:pt x="2442095" y="1430782"/>
                  </a:lnTo>
                  <a:lnTo>
                    <a:pt x="2442349" y="1317117"/>
                  </a:lnTo>
                  <a:lnTo>
                    <a:pt x="2434475" y="1111631"/>
                  </a:lnTo>
                  <a:lnTo>
                    <a:pt x="2443365" y="943483"/>
                  </a:lnTo>
                  <a:lnTo>
                    <a:pt x="2445143" y="669671"/>
                  </a:lnTo>
                  <a:lnTo>
                    <a:pt x="2454287" y="422656"/>
                  </a:lnTo>
                  <a:cubicBezTo>
                    <a:pt x="2454287" y="422656"/>
                    <a:pt x="2438285" y="245110"/>
                    <a:pt x="2437904" y="184150"/>
                  </a:cubicBezTo>
                  <a:close/>
                </a:path>
              </a:pathLst>
            </a:custGeom>
            <a:blipFill>
              <a:blip r:embed="rId4"/>
              <a:stretch>
                <a:fillRect l="0" t="0" r="-3469" b="0"/>
              </a:stretch>
            </a:blipFill>
          </p:spPr>
        </p:sp>
      </p:grpSp>
      <p:sp>
        <p:nvSpPr>
          <p:cNvPr name="TextBox 16" id="16"/>
          <p:cNvSpPr txBox="true"/>
          <p:nvPr/>
        </p:nvSpPr>
        <p:spPr>
          <a:xfrm rot="0">
            <a:off x="1028700" y="603028"/>
            <a:ext cx="6375082" cy="771525"/>
          </a:xfrm>
          <a:prstGeom prst="rect">
            <a:avLst/>
          </a:prstGeom>
        </p:spPr>
        <p:txBody>
          <a:bodyPr anchor="t" rtlCol="false" tIns="0" lIns="0" bIns="0" rIns="0">
            <a:spAutoFit/>
          </a:bodyPr>
          <a:lstStyle/>
          <a:p>
            <a:pPr algn="l">
              <a:lnSpc>
                <a:spcPts val="5759"/>
              </a:lnSpc>
            </a:pPr>
            <a:r>
              <a:rPr lang="en-US" b="true" sz="4800">
                <a:solidFill>
                  <a:srgbClr val="000000"/>
                </a:solidFill>
                <a:latin typeface="Poppins Bold"/>
                <a:ea typeface="Poppins Bold"/>
                <a:cs typeface="Poppins Bold"/>
                <a:sym typeface="Poppins Bold"/>
              </a:rPr>
              <a:t>PROBLEM</a:t>
            </a:r>
          </a:p>
        </p:txBody>
      </p:sp>
      <p:sp>
        <p:nvSpPr>
          <p:cNvPr name="TextBox 17" id="17"/>
          <p:cNvSpPr txBox="true"/>
          <p:nvPr/>
        </p:nvSpPr>
        <p:spPr>
          <a:xfrm rot="0">
            <a:off x="8260232" y="703040"/>
            <a:ext cx="521037" cy="581025"/>
          </a:xfrm>
          <a:prstGeom prst="rect">
            <a:avLst/>
          </a:prstGeom>
        </p:spPr>
        <p:txBody>
          <a:bodyPr anchor="t" rtlCol="false" tIns="0" lIns="0" bIns="0" rIns="0">
            <a:spAutoFit/>
          </a:bodyPr>
          <a:lstStyle/>
          <a:p>
            <a:pPr algn="ctr">
              <a:lnSpc>
                <a:spcPts val="4320"/>
              </a:lnSpc>
            </a:pPr>
            <a:r>
              <a:rPr lang="en-US" b="true" sz="3600">
                <a:solidFill>
                  <a:srgbClr val="000000"/>
                </a:solidFill>
                <a:latin typeface="Poppins Bold"/>
                <a:ea typeface="Poppins Bold"/>
                <a:cs typeface="Poppins Bold"/>
                <a:sym typeface="Poppins Bold"/>
              </a:rPr>
              <a:t>1</a:t>
            </a:r>
          </a:p>
        </p:txBody>
      </p:sp>
      <p:sp>
        <p:nvSpPr>
          <p:cNvPr name="TextBox 18" id="18"/>
          <p:cNvSpPr txBox="true"/>
          <p:nvPr/>
        </p:nvSpPr>
        <p:spPr>
          <a:xfrm rot="0">
            <a:off x="2231132" y="3617791"/>
            <a:ext cx="7400632" cy="4305300"/>
          </a:xfrm>
          <a:prstGeom prst="rect">
            <a:avLst/>
          </a:prstGeom>
        </p:spPr>
        <p:txBody>
          <a:bodyPr anchor="t" rtlCol="false" tIns="0" lIns="0" bIns="0" rIns="0">
            <a:spAutoFit/>
          </a:bodyPr>
          <a:lstStyle/>
          <a:p>
            <a:pPr algn="just">
              <a:lnSpc>
                <a:spcPts val="4200"/>
              </a:lnSpc>
            </a:pPr>
            <a:r>
              <a:rPr lang="en-US" sz="3500">
                <a:solidFill>
                  <a:srgbClr val="000000"/>
                </a:solidFill>
                <a:latin typeface="Poppins"/>
                <a:ea typeface="Poppins"/>
                <a:cs typeface="Poppins"/>
                <a:sym typeface="Poppins"/>
              </a:rPr>
              <a:t>People often make impulsive decisions that waste time and money and misalign with their goals. Most existing tools only provide feedback after the mistake has already happened, which is too late to prevent negative consequences.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 y="1028700"/>
            <a:ext cx="9143943" cy="1246537"/>
            <a:chOff x="0" y="0"/>
            <a:chExt cx="12191924" cy="1662049"/>
          </a:xfrm>
        </p:grpSpPr>
        <p:grpSp>
          <p:nvGrpSpPr>
            <p:cNvPr name="Group 3" id="3"/>
            <p:cNvGrpSpPr/>
            <p:nvPr/>
          </p:nvGrpSpPr>
          <p:grpSpPr>
            <a:xfrm rot="0">
              <a:off x="0" y="0"/>
              <a:ext cx="11352149" cy="1662049"/>
              <a:chOff x="0" y="0"/>
              <a:chExt cx="11352149" cy="1662049"/>
            </a:xfrm>
          </p:grpSpPr>
          <p:sp>
            <p:nvSpPr>
              <p:cNvPr name="Freeform 4" id="4"/>
              <p:cNvSpPr/>
              <p:nvPr/>
            </p:nvSpPr>
            <p:spPr>
              <a:xfrm flipH="false" flipV="false" rot="0">
                <a:off x="0" y="0"/>
                <a:ext cx="11352149" cy="1662049"/>
              </a:xfrm>
              <a:custGeom>
                <a:avLst/>
                <a:gdLst/>
                <a:ahLst/>
                <a:cxnLst/>
                <a:rect r="r" b="b" t="t" l="l"/>
                <a:pathLst>
                  <a:path h="1662049" w="11352149">
                    <a:moveTo>
                      <a:pt x="0" y="0"/>
                    </a:moveTo>
                    <a:lnTo>
                      <a:pt x="11352149" y="0"/>
                    </a:lnTo>
                    <a:lnTo>
                      <a:pt x="11352149" y="1662049"/>
                    </a:lnTo>
                    <a:lnTo>
                      <a:pt x="0" y="1662049"/>
                    </a:lnTo>
                    <a:close/>
                  </a:path>
                </a:pathLst>
              </a:custGeom>
              <a:solidFill>
                <a:srgbClr val="54E9CD"/>
              </a:solidFill>
            </p:spPr>
          </p:sp>
        </p:grpSp>
        <p:grpSp>
          <p:nvGrpSpPr>
            <p:cNvPr name="Group 5" id="5"/>
            <p:cNvGrpSpPr/>
            <p:nvPr/>
          </p:nvGrpSpPr>
          <p:grpSpPr>
            <a:xfrm rot="0">
              <a:off x="10530002" y="0"/>
              <a:ext cx="1661922" cy="1661922"/>
              <a:chOff x="0" y="0"/>
              <a:chExt cx="1661922" cy="1661922"/>
            </a:xfrm>
          </p:grpSpPr>
          <p:sp>
            <p:nvSpPr>
              <p:cNvPr name="Freeform 6" id="6"/>
              <p:cNvSpPr/>
              <p:nvPr/>
            </p:nvSpPr>
            <p:spPr>
              <a:xfrm flipH="false" flipV="false" rot="0">
                <a:off x="0" y="0"/>
                <a:ext cx="1661922" cy="1661922"/>
              </a:xfrm>
              <a:custGeom>
                <a:avLst/>
                <a:gdLst/>
                <a:ahLst/>
                <a:cxnLst/>
                <a:rect r="r" b="b" t="t" l="l"/>
                <a:pathLst>
                  <a:path h="1661922" w="1661922">
                    <a:moveTo>
                      <a:pt x="0" y="830961"/>
                    </a:moveTo>
                    <a:cubicBezTo>
                      <a:pt x="0" y="1289939"/>
                      <a:pt x="372110" y="1661922"/>
                      <a:pt x="830961" y="1661922"/>
                    </a:cubicBezTo>
                    <a:cubicBezTo>
                      <a:pt x="1289812" y="1661922"/>
                      <a:pt x="1661922" y="1289812"/>
                      <a:pt x="1661922" y="830961"/>
                    </a:cubicBezTo>
                    <a:cubicBezTo>
                      <a:pt x="1661922" y="372110"/>
                      <a:pt x="1289939" y="0"/>
                      <a:pt x="830961" y="0"/>
                    </a:cubicBezTo>
                    <a:cubicBezTo>
                      <a:pt x="371983" y="0"/>
                      <a:pt x="0" y="372110"/>
                      <a:pt x="0" y="830961"/>
                    </a:cubicBezTo>
                    <a:close/>
                  </a:path>
                </a:pathLst>
              </a:custGeom>
              <a:solidFill>
                <a:srgbClr val="54E9CD"/>
              </a:solidFill>
            </p:spPr>
          </p:sp>
        </p:grpSp>
        <p:grpSp>
          <p:nvGrpSpPr>
            <p:cNvPr name="Group 7" id="7"/>
            <p:cNvGrpSpPr/>
            <p:nvPr/>
          </p:nvGrpSpPr>
          <p:grpSpPr>
            <a:xfrm rot="0">
              <a:off x="10639768" y="109766"/>
              <a:ext cx="1442466" cy="1442466"/>
              <a:chOff x="0" y="0"/>
              <a:chExt cx="1442466" cy="1442466"/>
            </a:xfrm>
          </p:grpSpPr>
          <p:sp>
            <p:nvSpPr>
              <p:cNvPr name="Freeform 8" id="8"/>
              <p:cNvSpPr/>
              <p:nvPr/>
            </p:nvSpPr>
            <p:spPr>
              <a:xfrm flipH="false" flipV="false" rot="0">
                <a:off x="0" y="0"/>
                <a:ext cx="1442466" cy="1442466"/>
              </a:xfrm>
              <a:custGeom>
                <a:avLst/>
                <a:gdLst/>
                <a:ahLst/>
                <a:cxnLst/>
                <a:rect r="r" b="b" t="t" l="l"/>
                <a:pathLst>
                  <a:path h="1442466" w="1442466">
                    <a:moveTo>
                      <a:pt x="0" y="721233"/>
                    </a:moveTo>
                    <a:cubicBezTo>
                      <a:pt x="0" y="1119505"/>
                      <a:pt x="322961" y="1442466"/>
                      <a:pt x="721233" y="1442466"/>
                    </a:cubicBezTo>
                    <a:cubicBezTo>
                      <a:pt x="1119505" y="1442466"/>
                      <a:pt x="1442466" y="1119505"/>
                      <a:pt x="1442466" y="721233"/>
                    </a:cubicBezTo>
                    <a:cubicBezTo>
                      <a:pt x="1442466" y="322961"/>
                      <a:pt x="1119505" y="0"/>
                      <a:pt x="721233" y="0"/>
                    </a:cubicBezTo>
                    <a:cubicBezTo>
                      <a:pt x="322961" y="0"/>
                      <a:pt x="0" y="322961"/>
                      <a:pt x="0" y="721233"/>
                    </a:cubicBezTo>
                    <a:close/>
                  </a:path>
                </a:pathLst>
              </a:custGeom>
              <a:solidFill>
                <a:srgbClr val="FFFFFF"/>
              </a:solidFill>
            </p:spPr>
          </p:sp>
        </p:grpSp>
        <p:sp>
          <p:nvSpPr>
            <p:cNvPr name="TextBox 9" id="9"/>
            <p:cNvSpPr txBox="true"/>
            <p:nvPr/>
          </p:nvSpPr>
          <p:spPr>
            <a:xfrm rot="0">
              <a:off x="1371600" y="319824"/>
              <a:ext cx="8500110" cy="1012825"/>
            </a:xfrm>
            <a:prstGeom prst="rect">
              <a:avLst/>
            </a:prstGeom>
          </p:spPr>
          <p:txBody>
            <a:bodyPr anchor="t" rtlCol="false" tIns="0" lIns="0" bIns="0" rIns="0">
              <a:spAutoFit/>
            </a:bodyPr>
            <a:lstStyle/>
            <a:p>
              <a:pPr algn="l">
                <a:lnSpc>
                  <a:spcPts val="5759"/>
                </a:lnSpc>
              </a:pPr>
              <a:r>
                <a:rPr lang="en-US" b="true" sz="4800">
                  <a:solidFill>
                    <a:srgbClr val="000000"/>
                  </a:solidFill>
                  <a:latin typeface="Poppins Bold"/>
                  <a:ea typeface="Poppins Bold"/>
                  <a:cs typeface="Poppins Bold"/>
                  <a:sym typeface="Poppins Bold"/>
                </a:rPr>
                <a:t>SOLUTION</a:t>
              </a:r>
              <a:r>
                <a:rPr lang="en-US" b="true" sz="4800">
                  <a:solidFill>
                    <a:srgbClr val="000000"/>
                  </a:solidFill>
                  <a:latin typeface="Poppins Bold"/>
                  <a:ea typeface="Poppins Bold"/>
                  <a:cs typeface="Poppins Bold"/>
                  <a:sym typeface="Poppins Bold"/>
                </a:rPr>
                <a:t> </a:t>
              </a:r>
            </a:p>
          </p:txBody>
        </p:sp>
      </p:grpSp>
      <p:sp>
        <p:nvSpPr>
          <p:cNvPr name="Freeform 10" id="10"/>
          <p:cNvSpPr/>
          <p:nvPr/>
        </p:nvSpPr>
        <p:spPr>
          <a:xfrm flipH="false" flipV="false" rot="0">
            <a:off x="12492438" y="988184"/>
            <a:ext cx="4766862" cy="1287053"/>
          </a:xfrm>
          <a:custGeom>
            <a:avLst/>
            <a:gdLst/>
            <a:ahLst/>
            <a:cxnLst/>
            <a:rect r="r" b="b" t="t" l="l"/>
            <a:pathLst>
              <a:path h="1287053" w="4766862">
                <a:moveTo>
                  <a:pt x="0" y="0"/>
                </a:moveTo>
                <a:lnTo>
                  <a:pt x="4766862" y="0"/>
                </a:lnTo>
                <a:lnTo>
                  <a:pt x="4766862" y="1287053"/>
                </a:lnTo>
                <a:lnTo>
                  <a:pt x="0" y="1287053"/>
                </a:lnTo>
                <a:lnTo>
                  <a:pt x="0" y="0"/>
                </a:lnTo>
                <a:close/>
              </a:path>
            </a:pathLst>
          </a:custGeom>
          <a:blipFill>
            <a:blip r:embed="rId2"/>
            <a:stretch>
              <a:fillRect l="0" t="0" r="0" b="0"/>
            </a:stretch>
          </a:blipFill>
        </p:spPr>
      </p:sp>
      <p:sp>
        <p:nvSpPr>
          <p:cNvPr name="Freeform 11" id="11"/>
          <p:cNvSpPr/>
          <p:nvPr/>
        </p:nvSpPr>
        <p:spPr>
          <a:xfrm flipH="false" flipV="false" rot="0">
            <a:off x="8260290" y="5177967"/>
            <a:ext cx="8425724" cy="3807374"/>
          </a:xfrm>
          <a:custGeom>
            <a:avLst/>
            <a:gdLst/>
            <a:ahLst/>
            <a:cxnLst/>
            <a:rect r="r" b="b" t="t" l="l"/>
            <a:pathLst>
              <a:path h="3807374" w="8425724">
                <a:moveTo>
                  <a:pt x="0" y="0"/>
                </a:moveTo>
                <a:lnTo>
                  <a:pt x="8425723" y="0"/>
                </a:lnTo>
                <a:lnTo>
                  <a:pt x="8425723" y="3807374"/>
                </a:lnTo>
                <a:lnTo>
                  <a:pt x="0" y="3807374"/>
                </a:lnTo>
                <a:lnTo>
                  <a:pt x="0" y="0"/>
                </a:lnTo>
                <a:close/>
              </a:path>
            </a:pathLst>
          </a:custGeom>
          <a:blipFill>
            <a:blip r:embed="rId3"/>
            <a:stretch>
              <a:fillRect l="0" t="0" r="0" b="0"/>
            </a:stretch>
          </a:blipFill>
        </p:spPr>
      </p:sp>
      <p:sp>
        <p:nvSpPr>
          <p:cNvPr name="Freeform 12" id="12"/>
          <p:cNvSpPr/>
          <p:nvPr/>
        </p:nvSpPr>
        <p:spPr>
          <a:xfrm flipH="false" flipV="false" rot="0">
            <a:off x="1354904" y="4905008"/>
            <a:ext cx="6429142" cy="4353292"/>
          </a:xfrm>
          <a:custGeom>
            <a:avLst/>
            <a:gdLst/>
            <a:ahLst/>
            <a:cxnLst/>
            <a:rect r="r" b="b" t="t" l="l"/>
            <a:pathLst>
              <a:path h="4353292" w="6429142">
                <a:moveTo>
                  <a:pt x="0" y="0"/>
                </a:moveTo>
                <a:lnTo>
                  <a:pt x="6429142" y="0"/>
                </a:lnTo>
                <a:lnTo>
                  <a:pt x="6429142" y="4353292"/>
                </a:lnTo>
                <a:lnTo>
                  <a:pt x="0" y="4353292"/>
                </a:lnTo>
                <a:lnTo>
                  <a:pt x="0" y="0"/>
                </a:lnTo>
                <a:close/>
              </a:path>
            </a:pathLst>
          </a:custGeom>
          <a:blipFill>
            <a:blip r:embed="rId4"/>
            <a:stretch>
              <a:fillRect l="0" t="0" r="0" b="0"/>
            </a:stretch>
          </a:blipFill>
        </p:spPr>
      </p:sp>
      <p:sp>
        <p:nvSpPr>
          <p:cNvPr name="TextBox 13" id="13"/>
          <p:cNvSpPr txBox="true"/>
          <p:nvPr/>
        </p:nvSpPr>
        <p:spPr>
          <a:xfrm rot="0">
            <a:off x="8260290" y="1266187"/>
            <a:ext cx="521037" cy="581025"/>
          </a:xfrm>
          <a:prstGeom prst="rect">
            <a:avLst/>
          </a:prstGeom>
        </p:spPr>
        <p:txBody>
          <a:bodyPr anchor="t" rtlCol="false" tIns="0" lIns="0" bIns="0" rIns="0">
            <a:spAutoFit/>
          </a:bodyPr>
          <a:lstStyle/>
          <a:p>
            <a:pPr algn="ctr">
              <a:lnSpc>
                <a:spcPts val="4320"/>
              </a:lnSpc>
            </a:pPr>
            <a:r>
              <a:rPr lang="en-US" b="true" sz="3600">
                <a:solidFill>
                  <a:srgbClr val="000000"/>
                </a:solidFill>
                <a:latin typeface="Poppins Bold"/>
                <a:ea typeface="Poppins Bold"/>
                <a:cs typeface="Poppins Bold"/>
                <a:sym typeface="Poppins Bold"/>
              </a:rPr>
              <a:t>2</a:t>
            </a:r>
          </a:p>
        </p:txBody>
      </p:sp>
      <p:sp>
        <p:nvSpPr>
          <p:cNvPr name="TextBox 14" id="14"/>
          <p:cNvSpPr txBox="true"/>
          <p:nvPr/>
        </p:nvSpPr>
        <p:spPr>
          <a:xfrm rot="0">
            <a:off x="1690655" y="2914828"/>
            <a:ext cx="14906690" cy="1638300"/>
          </a:xfrm>
          <a:prstGeom prst="rect">
            <a:avLst/>
          </a:prstGeom>
        </p:spPr>
        <p:txBody>
          <a:bodyPr anchor="t" rtlCol="false" tIns="0" lIns="0" bIns="0" rIns="0">
            <a:spAutoFit/>
          </a:bodyPr>
          <a:lstStyle/>
          <a:p>
            <a:pPr algn="just">
              <a:lnSpc>
                <a:spcPts val="4200"/>
              </a:lnSpc>
              <a:spcBef>
                <a:spcPct val="0"/>
              </a:spcBef>
            </a:pPr>
            <a:r>
              <a:rPr lang="en-US" sz="3500">
                <a:solidFill>
                  <a:srgbClr val="000000"/>
                </a:solidFill>
                <a:latin typeface="Poppins"/>
                <a:ea typeface="Poppins"/>
                <a:cs typeface="Poppins"/>
                <a:sym typeface="Poppins"/>
              </a:rPr>
              <a:t>Our AI system offers real-time guidance, helping users make smarter decisions in the moment, preventing wasted resources and keeping actions aligned with their goals.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3679" y="-699024"/>
            <a:ext cx="19852895" cy="11167253"/>
            <a:chOff x="0" y="0"/>
            <a:chExt cx="24380952" cy="13714286"/>
          </a:xfrm>
        </p:grpSpPr>
        <p:sp>
          <p:nvSpPr>
            <p:cNvPr name="Freeform 3" id="3"/>
            <p:cNvSpPr/>
            <p:nvPr/>
          </p:nvSpPr>
          <p:spPr>
            <a:xfrm flipH="false" flipV="false" rot="0">
              <a:off x="0" y="0"/>
              <a:ext cx="24380952" cy="13714222"/>
            </a:xfrm>
            <a:custGeom>
              <a:avLst/>
              <a:gdLst/>
              <a:ahLst/>
              <a:cxnLst/>
              <a:rect r="r" b="b" t="t" l="l"/>
              <a:pathLst>
                <a:path h="13714222" w="24380952">
                  <a:moveTo>
                    <a:pt x="0" y="0"/>
                  </a:moveTo>
                  <a:lnTo>
                    <a:pt x="24380952" y="0"/>
                  </a:lnTo>
                  <a:lnTo>
                    <a:pt x="24380952" y="13714222"/>
                  </a:lnTo>
                  <a:lnTo>
                    <a:pt x="0" y="13714222"/>
                  </a:lnTo>
                  <a:lnTo>
                    <a:pt x="0" y="0"/>
                  </a:lnTo>
                  <a:close/>
                </a:path>
              </a:pathLst>
            </a:custGeom>
            <a:blipFill>
              <a:blip r:embed="rId2">
                <a:alphaModFix amt="9099"/>
              </a:blip>
              <a:stretch>
                <a:fillRect l="-467" t="0" r="-467" b="0"/>
              </a:stretch>
            </a:blipFill>
          </p:spPr>
        </p:sp>
      </p:grpSp>
      <p:grpSp>
        <p:nvGrpSpPr>
          <p:cNvPr name="Group 4" id="4"/>
          <p:cNvGrpSpPr/>
          <p:nvPr/>
        </p:nvGrpSpPr>
        <p:grpSpPr>
          <a:xfrm rot="0">
            <a:off x="58895" y="375066"/>
            <a:ext cx="8514112" cy="1246537"/>
            <a:chOff x="0" y="0"/>
            <a:chExt cx="11352149" cy="1662049"/>
          </a:xfrm>
        </p:grpSpPr>
        <p:sp>
          <p:nvSpPr>
            <p:cNvPr name="Freeform 5" id="5"/>
            <p:cNvSpPr/>
            <p:nvPr/>
          </p:nvSpPr>
          <p:spPr>
            <a:xfrm flipH="false" flipV="false" rot="0">
              <a:off x="0" y="0"/>
              <a:ext cx="11352149" cy="1662049"/>
            </a:xfrm>
            <a:custGeom>
              <a:avLst/>
              <a:gdLst/>
              <a:ahLst/>
              <a:cxnLst/>
              <a:rect r="r" b="b" t="t" l="l"/>
              <a:pathLst>
                <a:path h="1662049" w="11352149">
                  <a:moveTo>
                    <a:pt x="0" y="0"/>
                  </a:moveTo>
                  <a:lnTo>
                    <a:pt x="11352149" y="0"/>
                  </a:lnTo>
                  <a:lnTo>
                    <a:pt x="11352149" y="1662049"/>
                  </a:lnTo>
                  <a:lnTo>
                    <a:pt x="0" y="1662049"/>
                  </a:lnTo>
                  <a:close/>
                </a:path>
              </a:pathLst>
            </a:custGeom>
            <a:solidFill>
              <a:srgbClr val="54E9CD"/>
            </a:solidFill>
          </p:spPr>
        </p:sp>
      </p:grpSp>
      <p:grpSp>
        <p:nvGrpSpPr>
          <p:cNvPr name="Group 6" id="6"/>
          <p:cNvGrpSpPr/>
          <p:nvPr/>
        </p:nvGrpSpPr>
        <p:grpSpPr>
          <a:xfrm rot="0">
            <a:off x="7897501" y="375066"/>
            <a:ext cx="1246442" cy="1246442"/>
            <a:chOff x="0" y="0"/>
            <a:chExt cx="1661922" cy="1661922"/>
          </a:xfrm>
        </p:grpSpPr>
        <p:sp>
          <p:nvSpPr>
            <p:cNvPr name="Freeform 7" id="7"/>
            <p:cNvSpPr/>
            <p:nvPr/>
          </p:nvSpPr>
          <p:spPr>
            <a:xfrm flipH="false" flipV="false" rot="0">
              <a:off x="0" y="0"/>
              <a:ext cx="1661922" cy="1661922"/>
            </a:xfrm>
            <a:custGeom>
              <a:avLst/>
              <a:gdLst/>
              <a:ahLst/>
              <a:cxnLst/>
              <a:rect r="r" b="b" t="t" l="l"/>
              <a:pathLst>
                <a:path h="1661922" w="1661922">
                  <a:moveTo>
                    <a:pt x="0" y="830961"/>
                  </a:moveTo>
                  <a:cubicBezTo>
                    <a:pt x="0" y="1289939"/>
                    <a:pt x="372110" y="1661922"/>
                    <a:pt x="830961" y="1661922"/>
                  </a:cubicBezTo>
                  <a:cubicBezTo>
                    <a:pt x="1289812" y="1661922"/>
                    <a:pt x="1661922" y="1289812"/>
                    <a:pt x="1661922" y="830961"/>
                  </a:cubicBezTo>
                  <a:cubicBezTo>
                    <a:pt x="1661922" y="372110"/>
                    <a:pt x="1289939" y="0"/>
                    <a:pt x="830961" y="0"/>
                  </a:cubicBezTo>
                  <a:cubicBezTo>
                    <a:pt x="371983" y="0"/>
                    <a:pt x="0" y="372110"/>
                    <a:pt x="0" y="830961"/>
                  </a:cubicBezTo>
                  <a:close/>
                </a:path>
              </a:pathLst>
            </a:custGeom>
            <a:solidFill>
              <a:srgbClr val="54E9CD"/>
            </a:solidFill>
          </p:spPr>
        </p:sp>
      </p:grpSp>
      <p:grpSp>
        <p:nvGrpSpPr>
          <p:cNvPr name="Group 8" id="8"/>
          <p:cNvGrpSpPr/>
          <p:nvPr/>
        </p:nvGrpSpPr>
        <p:grpSpPr>
          <a:xfrm rot="0">
            <a:off x="7979826" y="457390"/>
            <a:ext cx="1081850" cy="1081850"/>
            <a:chOff x="0" y="0"/>
            <a:chExt cx="1442466" cy="1442466"/>
          </a:xfrm>
        </p:grpSpPr>
        <p:sp>
          <p:nvSpPr>
            <p:cNvPr name="Freeform 9" id="9"/>
            <p:cNvSpPr/>
            <p:nvPr/>
          </p:nvSpPr>
          <p:spPr>
            <a:xfrm flipH="false" flipV="false" rot="0">
              <a:off x="0" y="0"/>
              <a:ext cx="1442466" cy="1442466"/>
            </a:xfrm>
            <a:custGeom>
              <a:avLst/>
              <a:gdLst/>
              <a:ahLst/>
              <a:cxnLst/>
              <a:rect r="r" b="b" t="t" l="l"/>
              <a:pathLst>
                <a:path h="1442466" w="1442466">
                  <a:moveTo>
                    <a:pt x="0" y="721233"/>
                  </a:moveTo>
                  <a:cubicBezTo>
                    <a:pt x="0" y="1119505"/>
                    <a:pt x="322961" y="1442466"/>
                    <a:pt x="721233" y="1442466"/>
                  </a:cubicBezTo>
                  <a:cubicBezTo>
                    <a:pt x="1119505" y="1442466"/>
                    <a:pt x="1442466" y="1119505"/>
                    <a:pt x="1442466" y="721233"/>
                  </a:cubicBezTo>
                  <a:cubicBezTo>
                    <a:pt x="1442466" y="322961"/>
                    <a:pt x="1119505" y="0"/>
                    <a:pt x="721233" y="0"/>
                  </a:cubicBezTo>
                  <a:cubicBezTo>
                    <a:pt x="322961" y="0"/>
                    <a:pt x="0" y="322961"/>
                    <a:pt x="0" y="721233"/>
                  </a:cubicBezTo>
                  <a:close/>
                </a:path>
              </a:pathLst>
            </a:custGeom>
            <a:solidFill>
              <a:srgbClr val="FFFFFF"/>
            </a:solidFill>
          </p:spPr>
        </p:sp>
      </p:grpSp>
      <p:grpSp>
        <p:nvGrpSpPr>
          <p:cNvPr name="Group 10" id="10"/>
          <p:cNvGrpSpPr/>
          <p:nvPr/>
        </p:nvGrpSpPr>
        <p:grpSpPr>
          <a:xfrm rot="0">
            <a:off x="1028700" y="1849642"/>
            <a:ext cx="16554416" cy="8054743"/>
            <a:chOff x="0" y="0"/>
            <a:chExt cx="13229793" cy="6437109"/>
          </a:xfrm>
        </p:grpSpPr>
        <p:sp>
          <p:nvSpPr>
            <p:cNvPr name="Freeform 11" id="11"/>
            <p:cNvSpPr/>
            <p:nvPr/>
          </p:nvSpPr>
          <p:spPr>
            <a:xfrm flipH="false" flipV="false" rot="0">
              <a:off x="0" y="0"/>
              <a:ext cx="13184378" cy="6343777"/>
            </a:xfrm>
            <a:custGeom>
              <a:avLst/>
              <a:gdLst/>
              <a:ahLst/>
              <a:cxnLst/>
              <a:rect r="r" b="b" t="t" l="l"/>
              <a:pathLst>
                <a:path h="6343777" w="13184378">
                  <a:moveTo>
                    <a:pt x="0" y="1091184"/>
                  </a:moveTo>
                  <a:cubicBezTo>
                    <a:pt x="0" y="487553"/>
                    <a:pt x="498729" y="0"/>
                    <a:pt x="1111758" y="0"/>
                  </a:cubicBezTo>
                  <a:lnTo>
                    <a:pt x="12072620" y="0"/>
                  </a:lnTo>
                  <a:lnTo>
                    <a:pt x="12072620" y="50800"/>
                  </a:lnTo>
                  <a:lnTo>
                    <a:pt x="12072620" y="0"/>
                  </a:lnTo>
                  <a:cubicBezTo>
                    <a:pt x="12685649" y="0"/>
                    <a:pt x="13184378" y="487553"/>
                    <a:pt x="13184378" y="1091184"/>
                  </a:cubicBezTo>
                  <a:lnTo>
                    <a:pt x="13133578" y="1091184"/>
                  </a:lnTo>
                  <a:lnTo>
                    <a:pt x="13184378" y="1091184"/>
                  </a:lnTo>
                  <a:lnTo>
                    <a:pt x="13184378" y="5252593"/>
                  </a:lnTo>
                  <a:lnTo>
                    <a:pt x="13133578" y="5252593"/>
                  </a:lnTo>
                  <a:lnTo>
                    <a:pt x="13184378" y="5252593"/>
                  </a:lnTo>
                  <a:cubicBezTo>
                    <a:pt x="13184378" y="5856224"/>
                    <a:pt x="12685649" y="6343777"/>
                    <a:pt x="12072620" y="6343777"/>
                  </a:cubicBezTo>
                  <a:lnTo>
                    <a:pt x="12072620" y="6292977"/>
                  </a:lnTo>
                  <a:lnTo>
                    <a:pt x="12072620" y="6343777"/>
                  </a:lnTo>
                  <a:lnTo>
                    <a:pt x="1111758" y="6343777"/>
                  </a:lnTo>
                  <a:lnTo>
                    <a:pt x="1111758" y="6292977"/>
                  </a:lnTo>
                  <a:lnTo>
                    <a:pt x="1111758" y="6343777"/>
                  </a:lnTo>
                  <a:cubicBezTo>
                    <a:pt x="498729" y="6343777"/>
                    <a:pt x="0" y="5856224"/>
                    <a:pt x="0" y="5252593"/>
                  </a:cubicBezTo>
                  <a:lnTo>
                    <a:pt x="0" y="1091184"/>
                  </a:lnTo>
                  <a:lnTo>
                    <a:pt x="50800" y="1091184"/>
                  </a:lnTo>
                  <a:lnTo>
                    <a:pt x="0" y="1091184"/>
                  </a:lnTo>
                  <a:moveTo>
                    <a:pt x="101600" y="1091184"/>
                  </a:moveTo>
                  <a:lnTo>
                    <a:pt x="101600" y="5252593"/>
                  </a:lnTo>
                  <a:lnTo>
                    <a:pt x="50800" y="5252593"/>
                  </a:lnTo>
                  <a:lnTo>
                    <a:pt x="101600" y="5252593"/>
                  </a:lnTo>
                  <a:cubicBezTo>
                    <a:pt x="101600" y="5798185"/>
                    <a:pt x="552958" y="6242177"/>
                    <a:pt x="1111758" y="6242177"/>
                  </a:cubicBezTo>
                  <a:lnTo>
                    <a:pt x="12072620" y="6242177"/>
                  </a:lnTo>
                  <a:cubicBezTo>
                    <a:pt x="12631420" y="6242177"/>
                    <a:pt x="13082778" y="5798185"/>
                    <a:pt x="13082778" y="5252593"/>
                  </a:cubicBezTo>
                  <a:lnTo>
                    <a:pt x="13082778" y="1091184"/>
                  </a:lnTo>
                  <a:cubicBezTo>
                    <a:pt x="13082778" y="545592"/>
                    <a:pt x="12631420" y="101600"/>
                    <a:pt x="12072620" y="101600"/>
                  </a:cubicBezTo>
                  <a:lnTo>
                    <a:pt x="1111758" y="101600"/>
                  </a:lnTo>
                  <a:lnTo>
                    <a:pt x="1111758" y="50800"/>
                  </a:lnTo>
                  <a:lnTo>
                    <a:pt x="1111758" y="101600"/>
                  </a:lnTo>
                  <a:cubicBezTo>
                    <a:pt x="552958" y="101600"/>
                    <a:pt x="101600" y="545592"/>
                    <a:pt x="101600" y="1091184"/>
                  </a:cubicBezTo>
                  <a:close/>
                </a:path>
              </a:pathLst>
            </a:custGeom>
            <a:solidFill>
              <a:srgbClr val="000000"/>
            </a:solidFill>
          </p:spPr>
        </p:sp>
      </p:grpSp>
      <p:sp>
        <p:nvSpPr>
          <p:cNvPr name="TextBox 12" id="12"/>
          <p:cNvSpPr txBox="true"/>
          <p:nvPr/>
        </p:nvSpPr>
        <p:spPr>
          <a:xfrm rot="0">
            <a:off x="1758401" y="2371725"/>
            <a:ext cx="14383356" cy="6886575"/>
          </a:xfrm>
          <a:prstGeom prst="rect">
            <a:avLst/>
          </a:prstGeom>
        </p:spPr>
        <p:txBody>
          <a:bodyPr anchor="t" rtlCol="false" tIns="0" lIns="0" bIns="0" rIns="0">
            <a:spAutoFit/>
          </a:bodyPr>
          <a:lstStyle/>
          <a:p>
            <a:pPr algn="l" marL="647700" indent="-323850" lvl="1">
              <a:lnSpc>
                <a:spcPts val="3600"/>
              </a:lnSpc>
              <a:buFont typeface="Arial"/>
              <a:buChar char="•"/>
            </a:pPr>
            <a:r>
              <a:rPr lang="en-US" b="true" sz="3000">
                <a:solidFill>
                  <a:srgbClr val="000000"/>
                </a:solidFill>
                <a:latin typeface="Poppins Bold"/>
                <a:ea typeface="Poppins Bold"/>
                <a:cs typeface="Poppins Bold"/>
                <a:sym typeface="Poppins Bold"/>
              </a:rPr>
              <a:t>Tri-Fact</a:t>
            </a:r>
            <a:r>
              <a:rPr lang="en-US" b="true" sz="3000">
                <a:solidFill>
                  <a:srgbClr val="000000"/>
                </a:solidFill>
                <a:latin typeface="Poppins Bold"/>
                <a:ea typeface="Poppins Bold"/>
                <a:cs typeface="Poppins Bold"/>
                <a:sym typeface="Poppins Bold"/>
              </a:rPr>
              <a:t>or Analysis</a:t>
            </a:r>
            <a:r>
              <a:rPr lang="en-US" sz="3000">
                <a:solidFill>
                  <a:srgbClr val="000000"/>
                </a:solidFill>
                <a:latin typeface="Poppins"/>
                <a:ea typeface="Poppins"/>
                <a:cs typeface="Poppins"/>
                <a:sym typeface="Poppins"/>
              </a:rPr>
              <a:t>: The "Decision Evaluator" analyzes the intersection of your time, money, and behavior to prevent impulsive actions that could derail your semester.</a:t>
            </a:r>
          </a:p>
          <a:p>
            <a:pPr algn="l">
              <a:lnSpc>
                <a:spcPts val="3600"/>
              </a:lnSpc>
            </a:pPr>
          </a:p>
          <a:p>
            <a:pPr algn="l" marL="647700" indent="-323850" lvl="1">
              <a:lnSpc>
                <a:spcPts val="3600"/>
              </a:lnSpc>
              <a:buFont typeface="Arial"/>
              <a:buChar char="•"/>
            </a:pPr>
            <a:r>
              <a:rPr lang="en-US" b="true" sz="3000">
                <a:solidFill>
                  <a:srgbClr val="000000"/>
                </a:solidFill>
                <a:latin typeface="Poppins Bold"/>
                <a:ea typeface="Poppins Bold"/>
                <a:cs typeface="Poppins Bold"/>
                <a:sym typeface="Poppins Bold"/>
              </a:rPr>
              <a:t>Smart Decision-Making Boost</a:t>
            </a:r>
            <a:r>
              <a:rPr lang="en-US" sz="3000">
                <a:solidFill>
                  <a:srgbClr val="000000"/>
                </a:solidFill>
                <a:latin typeface="Poppins"/>
                <a:ea typeface="Poppins"/>
                <a:cs typeface="Poppins"/>
                <a:sym typeface="Poppins"/>
              </a:rPr>
              <a:t>: Uses "One-Click Guidance" to provide personalized "Do Now" or "Ignore" suggestions, helping students manage cognitive load during busy exam seasons.</a:t>
            </a:r>
          </a:p>
          <a:p>
            <a:pPr algn="l">
              <a:lnSpc>
                <a:spcPts val="3600"/>
              </a:lnSpc>
            </a:pPr>
          </a:p>
          <a:p>
            <a:pPr algn="l" marL="647700" indent="-323850" lvl="1">
              <a:lnSpc>
                <a:spcPts val="3600"/>
              </a:lnSpc>
              <a:buFont typeface="Arial"/>
              <a:buChar char="•"/>
            </a:pPr>
            <a:r>
              <a:rPr lang="en-US" b="true" sz="3000">
                <a:solidFill>
                  <a:srgbClr val="000000"/>
                </a:solidFill>
                <a:latin typeface="Poppins Bold"/>
                <a:ea typeface="Poppins Bold"/>
                <a:cs typeface="Poppins Bold"/>
                <a:sym typeface="Poppins Bold"/>
              </a:rPr>
              <a:t>Persistent Life Score:</a:t>
            </a:r>
            <a:r>
              <a:rPr lang="en-US" sz="3000">
                <a:solidFill>
                  <a:srgbClr val="000000"/>
                </a:solidFill>
                <a:latin typeface="Poppins"/>
                <a:ea typeface="Poppins"/>
                <a:cs typeface="Poppins"/>
                <a:sym typeface="Poppins"/>
              </a:rPr>
              <a:t> Visualizes your progress through "Stats &amp; Trends" and "Life Score" charts, turning the development of discipline into a trackable, rewarding experience.</a:t>
            </a:r>
          </a:p>
          <a:p>
            <a:pPr algn="l">
              <a:lnSpc>
                <a:spcPts val="3600"/>
              </a:lnSpc>
            </a:pPr>
          </a:p>
          <a:p>
            <a:pPr algn="l" marL="647700" indent="-323850" lvl="1">
              <a:lnSpc>
                <a:spcPts val="3600"/>
              </a:lnSpc>
              <a:buFont typeface="Arial"/>
              <a:buChar char="•"/>
            </a:pPr>
            <a:r>
              <a:rPr lang="en-US" b="true" sz="3000">
                <a:solidFill>
                  <a:srgbClr val="000000"/>
                </a:solidFill>
                <a:latin typeface="Poppins Bold"/>
                <a:ea typeface="Poppins Bold"/>
                <a:cs typeface="Poppins Bold"/>
                <a:sym typeface="Poppins Bold"/>
              </a:rPr>
              <a:t>Explainable Logic:</a:t>
            </a:r>
            <a:r>
              <a:rPr lang="en-US" sz="3000">
                <a:solidFill>
                  <a:srgbClr val="000000"/>
                </a:solidFill>
                <a:latin typeface="Poppins"/>
                <a:ea typeface="Poppins"/>
                <a:cs typeface="Poppins"/>
                <a:sym typeface="Poppins"/>
              </a:rPr>
              <a:t> Every AI decision includes a clear reason and confidence level so you understand the "why" behind the guidance.</a:t>
            </a:r>
          </a:p>
          <a:p>
            <a:pPr algn="l">
              <a:lnSpc>
                <a:spcPts val="3600"/>
              </a:lnSpc>
            </a:pPr>
          </a:p>
        </p:txBody>
      </p:sp>
      <p:sp>
        <p:nvSpPr>
          <p:cNvPr name="TextBox 13" id="13"/>
          <p:cNvSpPr txBox="true"/>
          <p:nvPr/>
        </p:nvSpPr>
        <p:spPr>
          <a:xfrm rot="0">
            <a:off x="1028700" y="767715"/>
            <a:ext cx="4297759" cy="771525"/>
          </a:xfrm>
          <a:prstGeom prst="rect">
            <a:avLst/>
          </a:prstGeom>
        </p:spPr>
        <p:txBody>
          <a:bodyPr anchor="t" rtlCol="false" tIns="0" lIns="0" bIns="0" rIns="0">
            <a:spAutoFit/>
          </a:bodyPr>
          <a:lstStyle/>
          <a:p>
            <a:pPr algn="l">
              <a:lnSpc>
                <a:spcPts val="5759"/>
              </a:lnSpc>
            </a:pPr>
            <a:r>
              <a:rPr lang="en-US" b="true" sz="4800">
                <a:solidFill>
                  <a:srgbClr val="000000"/>
                </a:solidFill>
                <a:latin typeface="Poppins Bold"/>
                <a:ea typeface="Poppins Bold"/>
                <a:cs typeface="Poppins Bold"/>
                <a:sym typeface="Poppins Bold"/>
              </a:rPr>
              <a:t>KEY FEATURES</a:t>
            </a:r>
          </a:p>
        </p:txBody>
      </p:sp>
      <p:sp>
        <p:nvSpPr>
          <p:cNvPr name="TextBox 14" id="14"/>
          <p:cNvSpPr txBox="true"/>
          <p:nvPr/>
        </p:nvSpPr>
        <p:spPr>
          <a:xfrm rot="0">
            <a:off x="8260232" y="612553"/>
            <a:ext cx="521037" cy="581025"/>
          </a:xfrm>
          <a:prstGeom prst="rect">
            <a:avLst/>
          </a:prstGeom>
        </p:spPr>
        <p:txBody>
          <a:bodyPr anchor="t" rtlCol="false" tIns="0" lIns="0" bIns="0" rIns="0">
            <a:spAutoFit/>
          </a:bodyPr>
          <a:lstStyle/>
          <a:p>
            <a:pPr algn="ctr">
              <a:lnSpc>
                <a:spcPts val="4320"/>
              </a:lnSpc>
            </a:pPr>
            <a:r>
              <a:rPr lang="en-US" b="true" sz="3600">
                <a:solidFill>
                  <a:srgbClr val="000000"/>
                </a:solidFill>
                <a:latin typeface="Poppins Bold"/>
                <a:ea typeface="Poppins Bold"/>
                <a:cs typeface="Poppins Bold"/>
                <a:sym typeface="Poppins Bold"/>
              </a:rPr>
              <a:t>3</a:t>
            </a:r>
          </a:p>
        </p:txBody>
      </p:sp>
      <p:sp>
        <p:nvSpPr>
          <p:cNvPr name="Freeform 15" id="15"/>
          <p:cNvSpPr/>
          <p:nvPr/>
        </p:nvSpPr>
        <p:spPr>
          <a:xfrm flipH="false" flipV="false" rot="0">
            <a:off x="12816254" y="252187"/>
            <a:ext cx="4766862" cy="1287053"/>
          </a:xfrm>
          <a:custGeom>
            <a:avLst/>
            <a:gdLst/>
            <a:ahLst/>
            <a:cxnLst/>
            <a:rect r="r" b="b" t="t" l="l"/>
            <a:pathLst>
              <a:path h="1287053" w="4766862">
                <a:moveTo>
                  <a:pt x="0" y="0"/>
                </a:moveTo>
                <a:lnTo>
                  <a:pt x="4766862" y="0"/>
                </a:lnTo>
                <a:lnTo>
                  <a:pt x="4766862" y="1287053"/>
                </a:lnTo>
                <a:lnTo>
                  <a:pt x="0" y="1287053"/>
                </a:lnTo>
                <a:lnTo>
                  <a:pt x="0" y="0"/>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1F3FA"/>
        </a:solidFill>
      </p:bgPr>
    </p:bg>
    <p:spTree>
      <p:nvGrpSpPr>
        <p:cNvPr id="1" name=""/>
        <p:cNvGrpSpPr/>
        <p:nvPr/>
      </p:nvGrpSpPr>
      <p:grpSpPr>
        <a:xfrm>
          <a:off x="0" y="0"/>
          <a:ext cx="0" cy="0"/>
          <a:chOff x="0" y="0"/>
          <a:chExt cx="0" cy="0"/>
        </a:xfrm>
      </p:grpSpPr>
      <p:grpSp>
        <p:nvGrpSpPr>
          <p:cNvPr name="Group 2" id="2"/>
          <p:cNvGrpSpPr/>
          <p:nvPr/>
        </p:nvGrpSpPr>
        <p:grpSpPr>
          <a:xfrm rot="0">
            <a:off x="57" y="543664"/>
            <a:ext cx="8514112" cy="1246537"/>
            <a:chOff x="0" y="0"/>
            <a:chExt cx="11352149" cy="1662049"/>
          </a:xfrm>
        </p:grpSpPr>
        <p:sp>
          <p:nvSpPr>
            <p:cNvPr name="Freeform 3" id="3"/>
            <p:cNvSpPr/>
            <p:nvPr/>
          </p:nvSpPr>
          <p:spPr>
            <a:xfrm flipH="false" flipV="false" rot="0">
              <a:off x="0" y="0"/>
              <a:ext cx="11352149" cy="1662049"/>
            </a:xfrm>
            <a:custGeom>
              <a:avLst/>
              <a:gdLst/>
              <a:ahLst/>
              <a:cxnLst/>
              <a:rect r="r" b="b" t="t" l="l"/>
              <a:pathLst>
                <a:path h="1662049" w="11352149">
                  <a:moveTo>
                    <a:pt x="0" y="0"/>
                  </a:moveTo>
                  <a:lnTo>
                    <a:pt x="11352149" y="0"/>
                  </a:lnTo>
                  <a:lnTo>
                    <a:pt x="11352149" y="1662049"/>
                  </a:lnTo>
                  <a:lnTo>
                    <a:pt x="0" y="1662049"/>
                  </a:lnTo>
                  <a:close/>
                </a:path>
              </a:pathLst>
            </a:custGeom>
            <a:solidFill>
              <a:srgbClr val="54E9CD"/>
            </a:solidFill>
          </p:spPr>
        </p:sp>
      </p:grpSp>
      <p:grpSp>
        <p:nvGrpSpPr>
          <p:cNvPr name="Group 4" id="4"/>
          <p:cNvGrpSpPr/>
          <p:nvPr/>
        </p:nvGrpSpPr>
        <p:grpSpPr>
          <a:xfrm rot="0">
            <a:off x="7897558" y="543664"/>
            <a:ext cx="1246442" cy="1246442"/>
            <a:chOff x="0" y="0"/>
            <a:chExt cx="1661922" cy="1661922"/>
          </a:xfrm>
        </p:grpSpPr>
        <p:sp>
          <p:nvSpPr>
            <p:cNvPr name="Freeform 5" id="5"/>
            <p:cNvSpPr/>
            <p:nvPr/>
          </p:nvSpPr>
          <p:spPr>
            <a:xfrm flipH="false" flipV="false" rot="0">
              <a:off x="0" y="0"/>
              <a:ext cx="1661922" cy="1661922"/>
            </a:xfrm>
            <a:custGeom>
              <a:avLst/>
              <a:gdLst/>
              <a:ahLst/>
              <a:cxnLst/>
              <a:rect r="r" b="b" t="t" l="l"/>
              <a:pathLst>
                <a:path h="1661922" w="1661922">
                  <a:moveTo>
                    <a:pt x="0" y="830961"/>
                  </a:moveTo>
                  <a:cubicBezTo>
                    <a:pt x="0" y="1289939"/>
                    <a:pt x="372110" y="1661922"/>
                    <a:pt x="830961" y="1661922"/>
                  </a:cubicBezTo>
                  <a:cubicBezTo>
                    <a:pt x="1289812" y="1661922"/>
                    <a:pt x="1661922" y="1289812"/>
                    <a:pt x="1661922" y="830961"/>
                  </a:cubicBezTo>
                  <a:cubicBezTo>
                    <a:pt x="1661922" y="372110"/>
                    <a:pt x="1289939" y="0"/>
                    <a:pt x="830961" y="0"/>
                  </a:cubicBezTo>
                  <a:cubicBezTo>
                    <a:pt x="371983" y="0"/>
                    <a:pt x="0" y="372110"/>
                    <a:pt x="0" y="830961"/>
                  </a:cubicBezTo>
                  <a:close/>
                </a:path>
              </a:pathLst>
            </a:custGeom>
            <a:solidFill>
              <a:srgbClr val="54E9CD"/>
            </a:solidFill>
          </p:spPr>
        </p:sp>
      </p:grpSp>
      <p:grpSp>
        <p:nvGrpSpPr>
          <p:cNvPr name="Group 6" id="6"/>
          <p:cNvGrpSpPr/>
          <p:nvPr/>
        </p:nvGrpSpPr>
        <p:grpSpPr>
          <a:xfrm rot="0">
            <a:off x="7979883" y="625989"/>
            <a:ext cx="1081850" cy="1081850"/>
            <a:chOff x="0" y="0"/>
            <a:chExt cx="1442466" cy="1442466"/>
          </a:xfrm>
        </p:grpSpPr>
        <p:sp>
          <p:nvSpPr>
            <p:cNvPr name="Freeform 7" id="7"/>
            <p:cNvSpPr/>
            <p:nvPr/>
          </p:nvSpPr>
          <p:spPr>
            <a:xfrm flipH="false" flipV="false" rot="0">
              <a:off x="0" y="0"/>
              <a:ext cx="1442466" cy="1442466"/>
            </a:xfrm>
            <a:custGeom>
              <a:avLst/>
              <a:gdLst/>
              <a:ahLst/>
              <a:cxnLst/>
              <a:rect r="r" b="b" t="t" l="l"/>
              <a:pathLst>
                <a:path h="1442466" w="1442466">
                  <a:moveTo>
                    <a:pt x="0" y="721233"/>
                  </a:moveTo>
                  <a:cubicBezTo>
                    <a:pt x="0" y="1119505"/>
                    <a:pt x="322961" y="1442466"/>
                    <a:pt x="721233" y="1442466"/>
                  </a:cubicBezTo>
                  <a:cubicBezTo>
                    <a:pt x="1119505" y="1442466"/>
                    <a:pt x="1442466" y="1119505"/>
                    <a:pt x="1442466" y="721233"/>
                  </a:cubicBezTo>
                  <a:cubicBezTo>
                    <a:pt x="1442466" y="322961"/>
                    <a:pt x="1119505" y="0"/>
                    <a:pt x="721233" y="0"/>
                  </a:cubicBezTo>
                  <a:cubicBezTo>
                    <a:pt x="322961" y="0"/>
                    <a:pt x="0" y="322961"/>
                    <a:pt x="0" y="721233"/>
                  </a:cubicBezTo>
                  <a:close/>
                </a:path>
              </a:pathLst>
            </a:custGeom>
            <a:solidFill>
              <a:srgbClr val="FFFFFF"/>
            </a:solidFill>
          </p:spPr>
        </p:sp>
      </p:grpSp>
      <p:sp>
        <p:nvSpPr>
          <p:cNvPr name="Freeform 8" id="8"/>
          <p:cNvSpPr/>
          <p:nvPr/>
        </p:nvSpPr>
        <p:spPr>
          <a:xfrm flipH="false" flipV="false" rot="0">
            <a:off x="12315780" y="543664"/>
            <a:ext cx="4766862" cy="1287053"/>
          </a:xfrm>
          <a:custGeom>
            <a:avLst/>
            <a:gdLst/>
            <a:ahLst/>
            <a:cxnLst/>
            <a:rect r="r" b="b" t="t" l="l"/>
            <a:pathLst>
              <a:path h="1287053" w="4766862">
                <a:moveTo>
                  <a:pt x="0" y="0"/>
                </a:moveTo>
                <a:lnTo>
                  <a:pt x="4766862" y="0"/>
                </a:lnTo>
                <a:lnTo>
                  <a:pt x="4766862" y="1287053"/>
                </a:lnTo>
                <a:lnTo>
                  <a:pt x="0" y="1287053"/>
                </a:lnTo>
                <a:lnTo>
                  <a:pt x="0" y="0"/>
                </a:lnTo>
                <a:close/>
              </a:path>
            </a:pathLst>
          </a:custGeom>
          <a:blipFill>
            <a:blip r:embed="rId2"/>
            <a:stretch>
              <a:fillRect l="0" t="0" r="0" b="0"/>
            </a:stretch>
          </a:blipFill>
        </p:spPr>
      </p:sp>
      <p:sp>
        <p:nvSpPr>
          <p:cNvPr name="Freeform 9" id="9"/>
          <p:cNvSpPr/>
          <p:nvPr/>
        </p:nvSpPr>
        <p:spPr>
          <a:xfrm flipH="false" flipV="false" rot="0">
            <a:off x="869604" y="1790201"/>
            <a:ext cx="6221518" cy="6348487"/>
          </a:xfrm>
          <a:custGeom>
            <a:avLst/>
            <a:gdLst/>
            <a:ahLst/>
            <a:cxnLst/>
            <a:rect r="r" b="b" t="t" l="l"/>
            <a:pathLst>
              <a:path h="6348487" w="6221518">
                <a:moveTo>
                  <a:pt x="0" y="0"/>
                </a:moveTo>
                <a:lnTo>
                  <a:pt x="6221518" y="0"/>
                </a:lnTo>
                <a:lnTo>
                  <a:pt x="6221518" y="6348487"/>
                </a:lnTo>
                <a:lnTo>
                  <a:pt x="0" y="63484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2766256" y="3821755"/>
            <a:ext cx="2428215" cy="2285379"/>
          </a:xfrm>
          <a:custGeom>
            <a:avLst/>
            <a:gdLst/>
            <a:ahLst/>
            <a:cxnLst/>
            <a:rect r="r" b="b" t="t" l="l"/>
            <a:pathLst>
              <a:path h="2285379" w="2428215">
                <a:moveTo>
                  <a:pt x="0" y="0"/>
                </a:moveTo>
                <a:lnTo>
                  <a:pt x="2428215" y="0"/>
                </a:lnTo>
                <a:lnTo>
                  <a:pt x="2428215" y="2285379"/>
                </a:lnTo>
                <a:lnTo>
                  <a:pt x="0" y="2285379"/>
                </a:lnTo>
                <a:lnTo>
                  <a:pt x="0" y="0"/>
                </a:lnTo>
                <a:close/>
              </a:path>
            </a:pathLst>
          </a:custGeom>
          <a:blipFill>
            <a:blip r:embed="rId5"/>
            <a:stretch>
              <a:fillRect l="0" t="0" r="0" b="0"/>
            </a:stretch>
          </a:blipFill>
        </p:spPr>
      </p:sp>
      <p:sp>
        <p:nvSpPr>
          <p:cNvPr name="TextBox 11" id="11"/>
          <p:cNvSpPr txBox="true"/>
          <p:nvPr/>
        </p:nvSpPr>
        <p:spPr>
          <a:xfrm rot="0">
            <a:off x="1028757" y="781151"/>
            <a:ext cx="6062365" cy="638175"/>
          </a:xfrm>
          <a:prstGeom prst="rect">
            <a:avLst/>
          </a:prstGeom>
        </p:spPr>
        <p:txBody>
          <a:bodyPr anchor="t" rtlCol="false" tIns="0" lIns="0" bIns="0" rIns="0">
            <a:spAutoFit/>
          </a:bodyPr>
          <a:lstStyle/>
          <a:p>
            <a:pPr algn="l">
              <a:lnSpc>
                <a:spcPts val="4799"/>
              </a:lnSpc>
            </a:pPr>
            <a:r>
              <a:rPr lang="en-US" b="true" sz="3999">
                <a:solidFill>
                  <a:srgbClr val="000000"/>
                </a:solidFill>
                <a:latin typeface="Poppins Bold"/>
                <a:ea typeface="Poppins Bold"/>
                <a:cs typeface="Poppins Bold"/>
                <a:sym typeface="Poppins Bold"/>
              </a:rPr>
              <a:t>SYSTEM  ARCHITECTURE</a:t>
            </a:r>
          </a:p>
        </p:txBody>
      </p:sp>
      <p:sp>
        <p:nvSpPr>
          <p:cNvPr name="TextBox 12" id="12"/>
          <p:cNvSpPr txBox="true"/>
          <p:nvPr/>
        </p:nvSpPr>
        <p:spPr>
          <a:xfrm rot="0">
            <a:off x="8260290" y="781151"/>
            <a:ext cx="521037" cy="581025"/>
          </a:xfrm>
          <a:prstGeom prst="rect">
            <a:avLst/>
          </a:prstGeom>
        </p:spPr>
        <p:txBody>
          <a:bodyPr anchor="t" rtlCol="false" tIns="0" lIns="0" bIns="0" rIns="0">
            <a:spAutoFit/>
          </a:bodyPr>
          <a:lstStyle/>
          <a:p>
            <a:pPr algn="ctr">
              <a:lnSpc>
                <a:spcPts val="4320"/>
              </a:lnSpc>
            </a:pPr>
            <a:r>
              <a:rPr lang="en-US" b="true" sz="3600">
                <a:solidFill>
                  <a:srgbClr val="000000"/>
                </a:solidFill>
                <a:latin typeface="Poppins Bold"/>
                <a:ea typeface="Poppins Bold"/>
                <a:cs typeface="Poppins Bold"/>
                <a:sym typeface="Poppins Bold"/>
              </a:rPr>
              <a:t>4</a:t>
            </a:r>
          </a:p>
        </p:txBody>
      </p:sp>
      <p:sp>
        <p:nvSpPr>
          <p:cNvPr name="TextBox 13" id="13"/>
          <p:cNvSpPr txBox="true"/>
          <p:nvPr/>
        </p:nvSpPr>
        <p:spPr>
          <a:xfrm rot="0">
            <a:off x="7380791" y="3048000"/>
            <a:ext cx="9701851" cy="4152900"/>
          </a:xfrm>
          <a:prstGeom prst="rect">
            <a:avLst/>
          </a:prstGeom>
        </p:spPr>
        <p:txBody>
          <a:bodyPr anchor="t" rtlCol="false" tIns="0" lIns="0" bIns="0" rIns="0">
            <a:spAutoFit/>
          </a:bodyPr>
          <a:lstStyle/>
          <a:p>
            <a:pPr algn="just" marL="734059" indent="-367030" lvl="1">
              <a:lnSpc>
                <a:spcPts val="4079"/>
              </a:lnSpc>
              <a:buFont typeface="Arial"/>
              <a:buChar char="•"/>
            </a:pPr>
            <a:r>
              <a:rPr lang="en-US" b="true" sz="3399">
                <a:solidFill>
                  <a:srgbClr val="000000"/>
                </a:solidFill>
                <a:latin typeface="Poppins Bold"/>
                <a:ea typeface="Poppins Bold"/>
                <a:cs typeface="Poppins Bold"/>
                <a:sym typeface="Poppins Bold"/>
              </a:rPr>
              <a:t>Front End</a:t>
            </a:r>
            <a:r>
              <a:rPr lang="en-US" b="true" sz="3399">
                <a:solidFill>
                  <a:srgbClr val="000000"/>
                </a:solidFill>
                <a:latin typeface="Poppins Bold"/>
                <a:ea typeface="Poppins Bold"/>
                <a:cs typeface="Poppins Bold"/>
                <a:sym typeface="Poppins Bold"/>
              </a:rPr>
              <a:t>  : </a:t>
            </a:r>
            <a:r>
              <a:rPr lang="en-US" sz="3399">
                <a:solidFill>
                  <a:srgbClr val="000000"/>
                </a:solidFill>
                <a:latin typeface="Poppins"/>
                <a:ea typeface="Poppins"/>
                <a:cs typeface="Poppins"/>
                <a:sym typeface="Poppins"/>
              </a:rPr>
              <a:t>React and Vite</a:t>
            </a:r>
          </a:p>
          <a:p>
            <a:pPr algn="just" marL="734059" indent="-367030" lvl="1">
              <a:lnSpc>
                <a:spcPts val="4079"/>
              </a:lnSpc>
              <a:buFont typeface="Arial"/>
              <a:buChar char="•"/>
            </a:pPr>
            <a:r>
              <a:rPr lang="en-US" b="true" sz="3399">
                <a:solidFill>
                  <a:srgbClr val="000000"/>
                </a:solidFill>
                <a:latin typeface="Poppins Bold"/>
                <a:ea typeface="Poppins Bold"/>
                <a:cs typeface="Poppins Bold"/>
                <a:sym typeface="Poppins Bold"/>
              </a:rPr>
              <a:t>Back  End:  </a:t>
            </a:r>
            <a:r>
              <a:rPr lang="en-US" sz="3399">
                <a:solidFill>
                  <a:srgbClr val="000000"/>
                </a:solidFill>
                <a:latin typeface="Poppins"/>
                <a:ea typeface="Poppins"/>
                <a:cs typeface="Poppins"/>
                <a:sym typeface="Poppins"/>
              </a:rPr>
              <a:t>Node j.s and Express</a:t>
            </a:r>
          </a:p>
          <a:p>
            <a:pPr algn="just" marL="734059" indent="-367030" lvl="1">
              <a:lnSpc>
                <a:spcPts val="4079"/>
              </a:lnSpc>
              <a:buFont typeface="Arial"/>
              <a:buChar char="•"/>
            </a:pPr>
            <a:r>
              <a:rPr lang="en-US" b="true" sz="3399">
                <a:solidFill>
                  <a:srgbClr val="000000"/>
                </a:solidFill>
                <a:latin typeface="Poppins Bold"/>
                <a:ea typeface="Poppins Bold"/>
                <a:cs typeface="Poppins Bold"/>
                <a:sym typeface="Poppins Bold"/>
              </a:rPr>
              <a:t>Database:  </a:t>
            </a:r>
            <a:r>
              <a:rPr lang="en-US" sz="3399">
                <a:solidFill>
                  <a:srgbClr val="000000"/>
                </a:solidFill>
                <a:latin typeface="Poppins"/>
                <a:ea typeface="Poppins"/>
                <a:cs typeface="Poppins"/>
                <a:sym typeface="Poppins"/>
              </a:rPr>
              <a:t>MySQL</a:t>
            </a:r>
          </a:p>
          <a:p>
            <a:pPr algn="just" marL="734059" indent="-367030" lvl="1">
              <a:lnSpc>
                <a:spcPts val="4079"/>
              </a:lnSpc>
              <a:buFont typeface="Arial"/>
              <a:buChar char="•"/>
            </a:pPr>
            <a:r>
              <a:rPr lang="en-US" b="true" sz="3399">
                <a:solidFill>
                  <a:srgbClr val="000000"/>
                </a:solidFill>
                <a:latin typeface="Poppins Bold"/>
                <a:ea typeface="Poppins Bold"/>
                <a:cs typeface="Poppins Bold"/>
                <a:sym typeface="Poppins Bold"/>
              </a:rPr>
              <a:t>Security:  </a:t>
            </a:r>
            <a:r>
              <a:rPr lang="en-US" sz="3399">
                <a:solidFill>
                  <a:srgbClr val="000000"/>
                </a:solidFill>
                <a:latin typeface="Poppins"/>
                <a:ea typeface="Poppins"/>
                <a:cs typeface="Poppins"/>
                <a:sym typeface="Poppins"/>
              </a:rPr>
              <a:t>jwt and bcrypt</a:t>
            </a:r>
          </a:p>
          <a:p>
            <a:pPr algn="just" marL="734059" indent="-367030" lvl="1">
              <a:lnSpc>
                <a:spcPts val="4079"/>
              </a:lnSpc>
              <a:buFont typeface="Arial"/>
              <a:buChar char="•"/>
            </a:pPr>
            <a:r>
              <a:rPr lang="en-US" b="true" sz="3399">
                <a:solidFill>
                  <a:srgbClr val="000000"/>
                </a:solidFill>
                <a:latin typeface="Poppins Bold"/>
                <a:ea typeface="Poppins Bold"/>
                <a:cs typeface="Poppins Bold"/>
                <a:sym typeface="Poppins Bold"/>
              </a:rPr>
              <a:t>AI Engine: </a:t>
            </a:r>
            <a:r>
              <a:rPr lang="en-US" sz="3399">
                <a:solidFill>
                  <a:srgbClr val="000000"/>
                </a:solidFill>
                <a:latin typeface="Poppins"/>
                <a:ea typeface="Poppins"/>
                <a:cs typeface="Poppins"/>
                <a:sym typeface="Poppins"/>
              </a:rPr>
              <a:t>Integrated Admin Panel for user/risk management </a:t>
            </a:r>
          </a:p>
          <a:p>
            <a:pPr algn="just" marL="734059" indent="-367030" lvl="1">
              <a:lnSpc>
                <a:spcPts val="4079"/>
              </a:lnSpc>
              <a:buFont typeface="Arial"/>
              <a:buChar char="•"/>
            </a:pPr>
            <a:r>
              <a:rPr lang="en-US" b="true" sz="3399">
                <a:solidFill>
                  <a:srgbClr val="000000"/>
                </a:solidFill>
                <a:latin typeface="Poppins Bold"/>
                <a:ea typeface="Poppins Bold"/>
                <a:cs typeface="Poppins Bold"/>
                <a:sym typeface="Poppins Bold"/>
              </a:rPr>
              <a:t>Governance: </a:t>
            </a:r>
            <a:r>
              <a:rPr lang="en-US" sz="3399">
                <a:solidFill>
                  <a:srgbClr val="000000"/>
                </a:solidFill>
                <a:latin typeface="Poppins"/>
                <a:ea typeface="Poppins"/>
                <a:cs typeface="Poppins"/>
                <a:sym typeface="Poppins"/>
              </a:rPr>
              <a:t>Groq (primary) DeepSeek (fallback)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75066"/>
            <a:ext cx="8514112" cy="1246537"/>
            <a:chOff x="0" y="0"/>
            <a:chExt cx="11352149" cy="1662049"/>
          </a:xfrm>
        </p:grpSpPr>
        <p:sp>
          <p:nvSpPr>
            <p:cNvPr name="Freeform 3" id="3"/>
            <p:cNvSpPr/>
            <p:nvPr/>
          </p:nvSpPr>
          <p:spPr>
            <a:xfrm flipH="false" flipV="false" rot="0">
              <a:off x="0" y="0"/>
              <a:ext cx="11352149" cy="1662049"/>
            </a:xfrm>
            <a:custGeom>
              <a:avLst/>
              <a:gdLst/>
              <a:ahLst/>
              <a:cxnLst/>
              <a:rect r="r" b="b" t="t" l="l"/>
              <a:pathLst>
                <a:path h="1662049" w="11352149">
                  <a:moveTo>
                    <a:pt x="0" y="0"/>
                  </a:moveTo>
                  <a:lnTo>
                    <a:pt x="11352149" y="0"/>
                  </a:lnTo>
                  <a:lnTo>
                    <a:pt x="11352149" y="1662049"/>
                  </a:lnTo>
                  <a:lnTo>
                    <a:pt x="0" y="1662049"/>
                  </a:lnTo>
                  <a:close/>
                </a:path>
              </a:pathLst>
            </a:custGeom>
            <a:solidFill>
              <a:srgbClr val="54E9CD"/>
            </a:solidFill>
          </p:spPr>
        </p:sp>
      </p:grpSp>
      <p:grpSp>
        <p:nvGrpSpPr>
          <p:cNvPr name="Group 4" id="4"/>
          <p:cNvGrpSpPr/>
          <p:nvPr/>
        </p:nvGrpSpPr>
        <p:grpSpPr>
          <a:xfrm rot="0">
            <a:off x="7897501" y="375066"/>
            <a:ext cx="1246442" cy="1246442"/>
            <a:chOff x="0" y="0"/>
            <a:chExt cx="1661922" cy="1661922"/>
          </a:xfrm>
        </p:grpSpPr>
        <p:sp>
          <p:nvSpPr>
            <p:cNvPr name="Freeform 5" id="5"/>
            <p:cNvSpPr/>
            <p:nvPr/>
          </p:nvSpPr>
          <p:spPr>
            <a:xfrm flipH="false" flipV="false" rot="0">
              <a:off x="0" y="0"/>
              <a:ext cx="1661922" cy="1661922"/>
            </a:xfrm>
            <a:custGeom>
              <a:avLst/>
              <a:gdLst/>
              <a:ahLst/>
              <a:cxnLst/>
              <a:rect r="r" b="b" t="t" l="l"/>
              <a:pathLst>
                <a:path h="1661922" w="1661922">
                  <a:moveTo>
                    <a:pt x="0" y="830961"/>
                  </a:moveTo>
                  <a:cubicBezTo>
                    <a:pt x="0" y="1289939"/>
                    <a:pt x="372110" y="1661922"/>
                    <a:pt x="830961" y="1661922"/>
                  </a:cubicBezTo>
                  <a:cubicBezTo>
                    <a:pt x="1289812" y="1661922"/>
                    <a:pt x="1661922" y="1289812"/>
                    <a:pt x="1661922" y="830961"/>
                  </a:cubicBezTo>
                  <a:cubicBezTo>
                    <a:pt x="1661922" y="372110"/>
                    <a:pt x="1289939" y="0"/>
                    <a:pt x="830961" y="0"/>
                  </a:cubicBezTo>
                  <a:cubicBezTo>
                    <a:pt x="371983" y="0"/>
                    <a:pt x="0" y="372110"/>
                    <a:pt x="0" y="830961"/>
                  </a:cubicBezTo>
                  <a:close/>
                </a:path>
              </a:pathLst>
            </a:custGeom>
            <a:solidFill>
              <a:srgbClr val="54E9CD"/>
            </a:solidFill>
          </p:spPr>
        </p:sp>
      </p:grpSp>
      <p:grpSp>
        <p:nvGrpSpPr>
          <p:cNvPr name="Group 6" id="6"/>
          <p:cNvGrpSpPr/>
          <p:nvPr/>
        </p:nvGrpSpPr>
        <p:grpSpPr>
          <a:xfrm rot="0">
            <a:off x="7979826" y="457390"/>
            <a:ext cx="1081850" cy="1081850"/>
            <a:chOff x="0" y="0"/>
            <a:chExt cx="1442466" cy="1442466"/>
          </a:xfrm>
        </p:grpSpPr>
        <p:sp>
          <p:nvSpPr>
            <p:cNvPr name="Freeform 7" id="7"/>
            <p:cNvSpPr/>
            <p:nvPr/>
          </p:nvSpPr>
          <p:spPr>
            <a:xfrm flipH="false" flipV="false" rot="0">
              <a:off x="0" y="0"/>
              <a:ext cx="1442466" cy="1442466"/>
            </a:xfrm>
            <a:custGeom>
              <a:avLst/>
              <a:gdLst/>
              <a:ahLst/>
              <a:cxnLst/>
              <a:rect r="r" b="b" t="t" l="l"/>
              <a:pathLst>
                <a:path h="1442466" w="1442466">
                  <a:moveTo>
                    <a:pt x="0" y="721233"/>
                  </a:moveTo>
                  <a:cubicBezTo>
                    <a:pt x="0" y="1119505"/>
                    <a:pt x="322961" y="1442466"/>
                    <a:pt x="721233" y="1442466"/>
                  </a:cubicBezTo>
                  <a:cubicBezTo>
                    <a:pt x="1119505" y="1442466"/>
                    <a:pt x="1442466" y="1119505"/>
                    <a:pt x="1442466" y="721233"/>
                  </a:cubicBezTo>
                  <a:cubicBezTo>
                    <a:pt x="1442466" y="322961"/>
                    <a:pt x="1119505" y="0"/>
                    <a:pt x="721233" y="0"/>
                  </a:cubicBezTo>
                  <a:cubicBezTo>
                    <a:pt x="322961" y="0"/>
                    <a:pt x="0" y="322961"/>
                    <a:pt x="0" y="721233"/>
                  </a:cubicBezTo>
                  <a:close/>
                </a:path>
              </a:pathLst>
            </a:custGeom>
            <a:solidFill>
              <a:srgbClr val="FFFFFF"/>
            </a:solidFill>
          </p:spPr>
        </p:sp>
      </p:grpSp>
      <p:sp>
        <p:nvSpPr>
          <p:cNvPr name="Freeform 8" id="8"/>
          <p:cNvSpPr/>
          <p:nvPr/>
        </p:nvSpPr>
        <p:spPr>
          <a:xfrm flipH="false" flipV="false" rot="0">
            <a:off x="11136001" y="3620659"/>
            <a:ext cx="5655158" cy="5369781"/>
          </a:xfrm>
          <a:custGeom>
            <a:avLst/>
            <a:gdLst/>
            <a:ahLst/>
            <a:cxnLst/>
            <a:rect r="r" b="b" t="t" l="l"/>
            <a:pathLst>
              <a:path h="5369781" w="5655158">
                <a:moveTo>
                  <a:pt x="0" y="0"/>
                </a:moveTo>
                <a:lnTo>
                  <a:pt x="5655158" y="0"/>
                </a:lnTo>
                <a:lnTo>
                  <a:pt x="5655158" y="5369782"/>
                </a:lnTo>
                <a:lnTo>
                  <a:pt x="0" y="5369782"/>
                </a:lnTo>
                <a:lnTo>
                  <a:pt x="0" y="0"/>
                </a:lnTo>
                <a:close/>
              </a:path>
            </a:pathLst>
          </a:custGeom>
          <a:blipFill>
            <a:blip r:embed="rId2"/>
            <a:stretch>
              <a:fillRect l="-39836" t="0" r="-28969" b="0"/>
            </a:stretch>
          </a:blipFill>
        </p:spPr>
      </p:sp>
      <p:sp>
        <p:nvSpPr>
          <p:cNvPr name="TextBox 9" id="9"/>
          <p:cNvSpPr txBox="true"/>
          <p:nvPr/>
        </p:nvSpPr>
        <p:spPr>
          <a:xfrm rot="0">
            <a:off x="2260125" y="619125"/>
            <a:ext cx="3224851" cy="771525"/>
          </a:xfrm>
          <a:prstGeom prst="rect">
            <a:avLst/>
          </a:prstGeom>
        </p:spPr>
        <p:txBody>
          <a:bodyPr anchor="t" rtlCol="false" tIns="0" lIns="0" bIns="0" rIns="0">
            <a:spAutoFit/>
          </a:bodyPr>
          <a:lstStyle/>
          <a:p>
            <a:pPr algn="l">
              <a:lnSpc>
                <a:spcPts val="5759"/>
              </a:lnSpc>
            </a:pPr>
            <a:r>
              <a:rPr lang="en-US" b="true" sz="4800">
                <a:solidFill>
                  <a:srgbClr val="000000"/>
                </a:solidFill>
                <a:latin typeface="Poppins Bold"/>
                <a:ea typeface="Poppins Bold"/>
                <a:cs typeface="Poppins Bold"/>
                <a:sym typeface="Poppins Bold"/>
              </a:rPr>
              <a:t>MARKET</a:t>
            </a:r>
          </a:p>
        </p:txBody>
      </p:sp>
      <p:sp>
        <p:nvSpPr>
          <p:cNvPr name="TextBox 10" id="10"/>
          <p:cNvSpPr txBox="true"/>
          <p:nvPr/>
        </p:nvSpPr>
        <p:spPr>
          <a:xfrm rot="0">
            <a:off x="8260232" y="612553"/>
            <a:ext cx="521037" cy="581025"/>
          </a:xfrm>
          <a:prstGeom prst="rect">
            <a:avLst/>
          </a:prstGeom>
        </p:spPr>
        <p:txBody>
          <a:bodyPr anchor="t" rtlCol="false" tIns="0" lIns="0" bIns="0" rIns="0">
            <a:spAutoFit/>
          </a:bodyPr>
          <a:lstStyle/>
          <a:p>
            <a:pPr algn="ctr">
              <a:lnSpc>
                <a:spcPts val="4320"/>
              </a:lnSpc>
            </a:pPr>
            <a:r>
              <a:rPr lang="en-US" b="true" sz="3600">
                <a:solidFill>
                  <a:srgbClr val="000000"/>
                </a:solidFill>
                <a:latin typeface="Poppins Bold"/>
                <a:ea typeface="Poppins Bold"/>
                <a:cs typeface="Poppins Bold"/>
                <a:sym typeface="Poppins Bold"/>
              </a:rPr>
              <a:t>5</a:t>
            </a:r>
          </a:p>
        </p:txBody>
      </p:sp>
      <p:sp>
        <p:nvSpPr>
          <p:cNvPr name="TextBox 11" id="11"/>
          <p:cNvSpPr txBox="true"/>
          <p:nvPr/>
        </p:nvSpPr>
        <p:spPr>
          <a:xfrm rot="0">
            <a:off x="634051" y="4010025"/>
            <a:ext cx="9701851" cy="3686175"/>
          </a:xfrm>
          <a:prstGeom prst="rect">
            <a:avLst/>
          </a:prstGeom>
        </p:spPr>
        <p:txBody>
          <a:bodyPr anchor="t" rtlCol="false" tIns="0" lIns="0" bIns="0" rIns="0">
            <a:spAutoFit/>
          </a:bodyPr>
          <a:lstStyle/>
          <a:p>
            <a:pPr algn="just">
              <a:lnSpc>
                <a:spcPts val="3600"/>
              </a:lnSpc>
            </a:pPr>
          </a:p>
          <a:p>
            <a:pPr algn="just" marL="647700" indent="-323850" lvl="1">
              <a:lnSpc>
                <a:spcPts val="3600"/>
              </a:lnSpc>
              <a:buFont typeface="Arial"/>
              <a:buChar char="•"/>
            </a:pPr>
            <a:r>
              <a:rPr lang="en-US" b="true" sz="3000">
                <a:solidFill>
                  <a:srgbClr val="000000"/>
                </a:solidFill>
                <a:latin typeface="Poppins Bold"/>
                <a:ea typeface="Poppins Bold"/>
                <a:cs typeface="Poppins Bold"/>
                <a:sym typeface="Poppins Bold"/>
              </a:rPr>
              <a:t>Students</a:t>
            </a:r>
            <a:r>
              <a:rPr lang="en-US" sz="3000">
                <a:solidFill>
                  <a:srgbClr val="000000"/>
                </a:solidFill>
                <a:latin typeface="Poppins"/>
                <a:ea typeface="Poppins"/>
                <a:cs typeface="Poppins"/>
                <a:sym typeface="Poppins"/>
              </a:rPr>
              <a:t> – managing study time, spending, and daily routines.</a:t>
            </a:r>
          </a:p>
          <a:p>
            <a:pPr algn="just" marL="647700" indent="-323850" lvl="1">
              <a:lnSpc>
                <a:spcPts val="3600"/>
              </a:lnSpc>
              <a:buFont typeface="Arial"/>
              <a:buChar char="•"/>
            </a:pPr>
            <a:r>
              <a:rPr lang="en-US" b="true" sz="3000">
                <a:solidFill>
                  <a:srgbClr val="000000"/>
                </a:solidFill>
                <a:latin typeface="Poppins Bold"/>
                <a:ea typeface="Poppins Bold"/>
                <a:cs typeface="Poppins Bold"/>
                <a:sym typeface="Poppins Bold"/>
              </a:rPr>
              <a:t>Young professionals</a:t>
            </a:r>
            <a:r>
              <a:rPr lang="en-US" sz="3000">
                <a:solidFill>
                  <a:srgbClr val="000000"/>
                </a:solidFill>
                <a:latin typeface="Poppins"/>
                <a:ea typeface="Poppins"/>
                <a:cs typeface="Poppins"/>
                <a:sym typeface="Poppins"/>
              </a:rPr>
              <a:t> – controlling impulsive purchases, work priorities, and lifestyle choices.</a:t>
            </a:r>
          </a:p>
          <a:p>
            <a:pPr algn="just" marL="647700" indent="-323850" lvl="1">
              <a:lnSpc>
                <a:spcPts val="3600"/>
              </a:lnSpc>
              <a:buFont typeface="Arial"/>
              <a:buChar char="•"/>
            </a:pPr>
            <a:r>
              <a:rPr lang="en-US" b="true" sz="3000">
                <a:solidFill>
                  <a:srgbClr val="000000"/>
                </a:solidFill>
                <a:latin typeface="Poppins Bold"/>
                <a:ea typeface="Poppins Bold"/>
                <a:cs typeface="Poppins Bold"/>
                <a:sym typeface="Poppins Bold"/>
              </a:rPr>
              <a:t>General consumers</a:t>
            </a:r>
            <a:r>
              <a:rPr lang="en-US" sz="3000">
                <a:solidFill>
                  <a:srgbClr val="000000"/>
                </a:solidFill>
                <a:latin typeface="Poppins"/>
                <a:ea typeface="Poppins"/>
                <a:cs typeface="Poppins"/>
                <a:sym typeface="Poppins"/>
              </a:rPr>
              <a:t> – anyone looking to improve decision-making and reduce mistakes in everyday life.</a:t>
            </a:r>
          </a:p>
        </p:txBody>
      </p:sp>
      <p:sp>
        <p:nvSpPr>
          <p:cNvPr name="TextBox 12" id="12"/>
          <p:cNvSpPr txBox="true"/>
          <p:nvPr/>
        </p:nvSpPr>
        <p:spPr>
          <a:xfrm rot="0">
            <a:off x="1028700" y="2725309"/>
            <a:ext cx="16230600" cy="895350"/>
          </a:xfrm>
          <a:prstGeom prst="rect">
            <a:avLst/>
          </a:prstGeom>
        </p:spPr>
        <p:txBody>
          <a:bodyPr anchor="t" rtlCol="false" tIns="0" lIns="0" bIns="0" rIns="0">
            <a:spAutoFit/>
          </a:bodyPr>
          <a:lstStyle/>
          <a:p>
            <a:pPr algn="just">
              <a:lnSpc>
                <a:spcPts val="3480"/>
              </a:lnSpc>
              <a:spcBef>
                <a:spcPct val="0"/>
              </a:spcBef>
            </a:pPr>
            <a:r>
              <a:rPr lang="en-US" sz="2900">
                <a:solidFill>
                  <a:srgbClr val="000000"/>
                </a:solidFill>
                <a:latin typeface="Poppins"/>
                <a:ea typeface="Poppins"/>
                <a:cs typeface="Poppins"/>
                <a:sym typeface="Poppins"/>
              </a:rPr>
              <a:t>AutoLife Guardian targets individuals seeking to make smarter decisions and better manage their time, money, and habits. This includes:</a:t>
            </a:r>
          </a:p>
        </p:txBody>
      </p:sp>
      <p:sp>
        <p:nvSpPr>
          <p:cNvPr name="Freeform 13" id="13"/>
          <p:cNvSpPr/>
          <p:nvPr/>
        </p:nvSpPr>
        <p:spPr>
          <a:xfrm flipH="false" flipV="false" rot="0">
            <a:off x="12816254" y="252187"/>
            <a:ext cx="4766862" cy="1287053"/>
          </a:xfrm>
          <a:custGeom>
            <a:avLst/>
            <a:gdLst/>
            <a:ahLst/>
            <a:cxnLst/>
            <a:rect r="r" b="b" t="t" l="l"/>
            <a:pathLst>
              <a:path h="1287053" w="4766862">
                <a:moveTo>
                  <a:pt x="0" y="0"/>
                </a:moveTo>
                <a:lnTo>
                  <a:pt x="4766862" y="0"/>
                </a:lnTo>
                <a:lnTo>
                  <a:pt x="4766862" y="1287053"/>
                </a:lnTo>
                <a:lnTo>
                  <a:pt x="0" y="1287053"/>
                </a:lnTo>
                <a:lnTo>
                  <a:pt x="0" y="0"/>
                </a:lnTo>
                <a:close/>
              </a:path>
            </a:pathLst>
          </a:custGeom>
          <a:blipFill>
            <a:blip r:embed="rId3"/>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43" y="648"/>
            <a:ext cx="18285714" cy="10285714"/>
            <a:chOff x="0" y="0"/>
            <a:chExt cx="24380952" cy="13714286"/>
          </a:xfrm>
        </p:grpSpPr>
        <p:sp>
          <p:nvSpPr>
            <p:cNvPr name="Freeform 3" id="3"/>
            <p:cNvSpPr/>
            <p:nvPr/>
          </p:nvSpPr>
          <p:spPr>
            <a:xfrm flipH="false" flipV="false" rot="0">
              <a:off x="0" y="0"/>
              <a:ext cx="24380952" cy="13714222"/>
            </a:xfrm>
            <a:custGeom>
              <a:avLst/>
              <a:gdLst/>
              <a:ahLst/>
              <a:cxnLst/>
              <a:rect r="r" b="b" t="t" l="l"/>
              <a:pathLst>
                <a:path h="13714222" w="24380952">
                  <a:moveTo>
                    <a:pt x="0" y="0"/>
                  </a:moveTo>
                  <a:lnTo>
                    <a:pt x="24380952" y="0"/>
                  </a:lnTo>
                  <a:lnTo>
                    <a:pt x="24380952" y="13714222"/>
                  </a:lnTo>
                  <a:lnTo>
                    <a:pt x="0" y="13714222"/>
                  </a:lnTo>
                  <a:lnTo>
                    <a:pt x="0" y="0"/>
                  </a:lnTo>
                  <a:close/>
                </a:path>
              </a:pathLst>
            </a:custGeom>
            <a:blipFill>
              <a:blip r:embed="rId2">
                <a:alphaModFix amt="30099"/>
              </a:blip>
              <a:stretch>
                <a:fillRect l="0" t="0" r="0" b="0"/>
              </a:stretch>
            </a:blipFill>
          </p:spPr>
        </p:sp>
      </p:grpSp>
      <p:sp>
        <p:nvSpPr>
          <p:cNvPr name="TextBox 4" id="4"/>
          <p:cNvSpPr txBox="true"/>
          <p:nvPr/>
        </p:nvSpPr>
        <p:spPr>
          <a:xfrm rot="0">
            <a:off x="4637713" y="4515359"/>
            <a:ext cx="10924475" cy="1996936"/>
          </a:xfrm>
          <a:prstGeom prst="rect">
            <a:avLst/>
          </a:prstGeom>
        </p:spPr>
        <p:txBody>
          <a:bodyPr anchor="t" rtlCol="false" tIns="0" lIns="0" bIns="0" rIns="0">
            <a:spAutoFit/>
          </a:bodyPr>
          <a:lstStyle/>
          <a:p>
            <a:pPr algn="l">
              <a:lnSpc>
                <a:spcPts val="14979"/>
              </a:lnSpc>
            </a:pPr>
            <a:r>
              <a:rPr lang="en-US" b="true" sz="12483">
                <a:solidFill>
                  <a:srgbClr val="52DFC4"/>
                </a:solidFill>
                <a:latin typeface="Poppins Bold"/>
                <a:ea typeface="Poppins Bold"/>
                <a:cs typeface="Poppins Bold"/>
                <a:sym typeface="Poppins Bold"/>
              </a:rPr>
              <a:t>LIVE  DEMO</a:t>
            </a:r>
          </a:p>
        </p:txBody>
      </p:sp>
      <p:sp>
        <p:nvSpPr>
          <p:cNvPr name="Freeform 5" id="5"/>
          <p:cNvSpPr/>
          <p:nvPr/>
        </p:nvSpPr>
        <p:spPr>
          <a:xfrm flipH="false" flipV="false" rot="0">
            <a:off x="7331790" y="2995094"/>
            <a:ext cx="4766862" cy="1287053"/>
          </a:xfrm>
          <a:custGeom>
            <a:avLst/>
            <a:gdLst/>
            <a:ahLst/>
            <a:cxnLst/>
            <a:rect r="r" b="b" t="t" l="l"/>
            <a:pathLst>
              <a:path h="1287053" w="4766862">
                <a:moveTo>
                  <a:pt x="0" y="0"/>
                </a:moveTo>
                <a:lnTo>
                  <a:pt x="4766862" y="0"/>
                </a:lnTo>
                <a:lnTo>
                  <a:pt x="4766862" y="1287053"/>
                </a:lnTo>
                <a:lnTo>
                  <a:pt x="0" y="1287053"/>
                </a:lnTo>
                <a:lnTo>
                  <a:pt x="0" y="0"/>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632" y="5885926"/>
            <a:ext cx="18288000" cy="2415369"/>
            <a:chOff x="0" y="0"/>
            <a:chExt cx="24384000" cy="3220491"/>
          </a:xfrm>
        </p:grpSpPr>
        <p:sp>
          <p:nvSpPr>
            <p:cNvPr name="Freeform 3" id="3"/>
            <p:cNvSpPr/>
            <p:nvPr/>
          </p:nvSpPr>
          <p:spPr>
            <a:xfrm flipH="false" flipV="false" rot="0">
              <a:off x="0" y="0"/>
              <a:ext cx="24384000" cy="3220466"/>
            </a:xfrm>
            <a:custGeom>
              <a:avLst/>
              <a:gdLst/>
              <a:ahLst/>
              <a:cxnLst/>
              <a:rect r="r" b="b" t="t" l="l"/>
              <a:pathLst>
                <a:path h="3220466" w="24384000">
                  <a:moveTo>
                    <a:pt x="0" y="0"/>
                  </a:moveTo>
                  <a:lnTo>
                    <a:pt x="24384000" y="0"/>
                  </a:lnTo>
                  <a:lnTo>
                    <a:pt x="24384000" y="3220466"/>
                  </a:lnTo>
                  <a:lnTo>
                    <a:pt x="0" y="3220466"/>
                  </a:lnTo>
                  <a:close/>
                </a:path>
              </a:pathLst>
            </a:custGeom>
            <a:solidFill>
              <a:srgbClr val="54E9CD"/>
            </a:solidFill>
          </p:spPr>
        </p:sp>
      </p:grpSp>
      <p:grpSp>
        <p:nvGrpSpPr>
          <p:cNvPr name="Group 4" id="4"/>
          <p:cNvGrpSpPr/>
          <p:nvPr/>
        </p:nvGrpSpPr>
        <p:grpSpPr>
          <a:xfrm rot="0">
            <a:off x="0" y="2432514"/>
            <a:ext cx="18288000" cy="2415369"/>
            <a:chOff x="0" y="0"/>
            <a:chExt cx="24384000" cy="3220491"/>
          </a:xfrm>
        </p:grpSpPr>
        <p:sp>
          <p:nvSpPr>
            <p:cNvPr name="Freeform 5" id="5"/>
            <p:cNvSpPr/>
            <p:nvPr/>
          </p:nvSpPr>
          <p:spPr>
            <a:xfrm flipH="false" flipV="false" rot="0">
              <a:off x="0" y="0"/>
              <a:ext cx="24384000" cy="3220466"/>
            </a:xfrm>
            <a:custGeom>
              <a:avLst/>
              <a:gdLst/>
              <a:ahLst/>
              <a:cxnLst/>
              <a:rect r="r" b="b" t="t" l="l"/>
              <a:pathLst>
                <a:path h="3220466" w="24384000">
                  <a:moveTo>
                    <a:pt x="0" y="0"/>
                  </a:moveTo>
                  <a:lnTo>
                    <a:pt x="24384000" y="0"/>
                  </a:lnTo>
                  <a:lnTo>
                    <a:pt x="24384000" y="3220466"/>
                  </a:lnTo>
                  <a:lnTo>
                    <a:pt x="0" y="3220466"/>
                  </a:lnTo>
                  <a:close/>
                </a:path>
              </a:pathLst>
            </a:custGeom>
            <a:solidFill>
              <a:srgbClr val="54E9CD"/>
            </a:solidFill>
          </p:spPr>
        </p:sp>
      </p:grpSp>
      <p:grpSp>
        <p:nvGrpSpPr>
          <p:cNvPr name="Group 6" id="6"/>
          <p:cNvGrpSpPr/>
          <p:nvPr/>
        </p:nvGrpSpPr>
        <p:grpSpPr>
          <a:xfrm rot="0">
            <a:off x="0" y="375066"/>
            <a:ext cx="8514112" cy="1246537"/>
            <a:chOff x="0" y="0"/>
            <a:chExt cx="11352149" cy="1662049"/>
          </a:xfrm>
        </p:grpSpPr>
        <p:sp>
          <p:nvSpPr>
            <p:cNvPr name="Freeform 7" id="7"/>
            <p:cNvSpPr/>
            <p:nvPr/>
          </p:nvSpPr>
          <p:spPr>
            <a:xfrm flipH="false" flipV="false" rot="0">
              <a:off x="0" y="0"/>
              <a:ext cx="11352149" cy="1662049"/>
            </a:xfrm>
            <a:custGeom>
              <a:avLst/>
              <a:gdLst/>
              <a:ahLst/>
              <a:cxnLst/>
              <a:rect r="r" b="b" t="t" l="l"/>
              <a:pathLst>
                <a:path h="1662049" w="11352149">
                  <a:moveTo>
                    <a:pt x="0" y="0"/>
                  </a:moveTo>
                  <a:lnTo>
                    <a:pt x="11352149" y="0"/>
                  </a:lnTo>
                  <a:lnTo>
                    <a:pt x="11352149" y="1662049"/>
                  </a:lnTo>
                  <a:lnTo>
                    <a:pt x="0" y="1662049"/>
                  </a:lnTo>
                  <a:close/>
                </a:path>
              </a:pathLst>
            </a:custGeom>
            <a:solidFill>
              <a:srgbClr val="54E9CD"/>
            </a:solidFill>
          </p:spPr>
        </p:sp>
      </p:grpSp>
      <p:grpSp>
        <p:nvGrpSpPr>
          <p:cNvPr name="Group 8" id="8"/>
          <p:cNvGrpSpPr/>
          <p:nvPr/>
        </p:nvGrpSpPr>
        <p:grpSpPr>
          <a:xfrm rot="0">
            <a:off x="7897501" y="375066"/>
            <a:ext cx="1246442" cy="1246442"/>
            <a:chOff x="0" y="0"/>
            <a:chExt cx="1661922" cy="1661922"/>
          </a:xfrm>
        </p:grpSpPr>
        <p:sp>
          <p:nvSpPr>
            <p:cNvPr name="Freeform 9" id="9"/>
            <p:cNvSpPr/>
            <p:nvPr/>
          </p:nvSpPr>
          <p:spPr>
            <a:xfrm flipH="false" flipV="false" rot="0">
              <a:off x="0" y="0"/>
              <a:ext cx="1661922" cy="1661922"/>
            </a:xfrm>
            <a:custGeom>
              <a:avLst/>
              <a:gdLst/>
              <a:ahLst/>
              <a:cxnLst/>
              <a:rect r="r" b="b" t="t" l="l"/>
              <a:pathLst>
                <a:path h="1661922" w="1661922">
                  <a:moveTo>
                    <a:pt x="0" y="830961"/>
                  </a:moveTo>
                  <a:cubicBezTo>
                    <a:pt x="0" y="1289939"/>
                    <a:pt x="372110" y="1661922"/>
                    <a:pt x="830961" y="1661922"/>
                  </a:cubicBezTo>
                  <a:cubicBezTo>
                    <a:pt x="1289812" y="1661922"/>
                    <a:pt x="1661922" y="1289812"/>
                    <a:pt x="1661922" y="830961"/>
                  </a:cubicBezTo>
                  <a:cubicBezTo>
                    <a:pt x="1661922" y="372110"/>
                    <a:pt x="1289939" y="0"/>
                    <a:pt x="830961" y="0"/>
                  </a:cubicBezTo>
                  <a:cubicBezTo>
                    <a:pt x="371983" y="0"/>
                    <a:pt x="0" y="372110"/>
                    <a:pt x="0" y="830961"/>
                  </a:cubicBezTo>
                  <a:close/>
                </a:path>
              </a:pathLst>
            </a:custGeom>
            <a:solidFill>
              <a:srgbClr val="54E9CD"/>
            </a:solidFill>
          </p:spPr>
        </p:sp>
      </p:grpSp>
      <p:grpSp>
        <p:nvGrpSpPr>
          <p:cNvPr name="Group 10" id="10"/>
          <p:cNvGrpSpPr/>
          <p:nvPr/>
        </p:nvGrpSpPr>
        <p:grpSpPr>
          <a:xfrm rot="0">
            <a:off x="7979826" y="457390"/>
            <a:ext cx="1081850" cy="1081850"/>
            <a:chOff x="0" y="0"/>
            <a:chExt cx="1442466" cy="1442466"/>
          </a:xfrm>
        </p:grpSpPr>
        <p:sp>
          <p:nvSpPr>
            <p:cNvPr name="Freeform 11" id="11"/>
            <p:cNvSpPr/>
            <p:nvPr/>
          </p:nvSpPr>
          <p:spPr>
            <a:xfrm flipH="false" flipV="false" rot="0">
              <a:off x="0" y="0"/>
              <a:ext cx="1442466" cy="1442466"/>
            </a:xfrm>
            <a:custGeom>
              <a:avLst/>
              <a:gdLst/>
              <a:ahLst/>
              <a:cxnLst/>
              <a:rect r="r" b="b" t="t" l="l"/>
              <a:pathLst>
                <a:path h="1442466" w="1442466">
                  <a:moveTo>
                    <a:pt x="0" y="721233"/>
                  </a:moveTo>
                  <a:cubicBezTo>
                    <a:pt x="0" y="1119505"/>
                    <a:pt x="322961" y="1442466"/>
                    <a:pt x="721233" y="1442466"/>
                  </a:cubicBezTo>
                  <a:cubicBezTo>
                    <a:pt x="1119505" y="1442466"/>
                    <a:pt x="1442466" y="1119505"/>
                    <a:pt x="1442466" y="721233"/>
                  </a:cubicBezTo>
                  <a:cubicBezTo>
                    <a:pt x="1442466" y="322961"/>
                    <a:pt x="1119505" y="0"/>
                    <a:pt x="721233" y="0"/>
                  </a:cubicBezTo>
                  <a:cubicBezTo>
                    <a:pt x="322961" y="0"/>
                    <a:pt x="0" y="322961"/>
                    <a:pt x="0" y="721233"/>
                  </a:cubicBezTo>
                  <a:close/>
                </a:path>
              </a:pathLst>
            </a:custGeom>
            <a:solidFill>
              <a:srgbClr val="FFFFFF"/>
            </a:solidFill>
          </p:spPr>
        </p:sp>
      </p:grpSp>
      <p:grpSp>
        <p:nvGrpSpPr>
          <p:cNvPr name="Group 12" id="12"/>
          <p:cNvGrpSpPr/>
          <p:nvPr/>
        </p:nvGrpSpPr>
        <p:grpSpPr>
          <a:xfrm rot="0">
            <a:off x="939517" y="2130552"/>
            <a:ext cx="2363162" cy="3016577"/>
            <a:chOff x="0" y="0"/>
            <a:chExt cx="3150883" cy="4022103"/>
          </a:xfrm>
        </p:grpSpPr>
        <p:sp>
          <p:nvSpPr>
            <p:cNvPr name="Freeform 13" id="13"/>
            <p:cNvSpPr/>
            <p:nvPr/>
          </p:nvSpPr>
          <p:spPr>
            <a:xfrm flipH="false" flipV="false" rot="0">
              <a:off x="0" y="0"/>
              <a:ext cx="3150870" cy="4022090"/>
            </a:xfrm>
            <a:custGeom>
              <a:avLst/>
              <a:gdLst/>
              <a:ahLst/>
              <a:cxnLst/>
              <a:rect r="r" b="b" t="t" l="l"/>
              <a:pathLst>
                <a:path h="4022090" w="3150870">
                  <a:moveTo>
                    <a:pt x="0" y="0"/>
                  </a:moveTo>
                  <a:lnTo>
                    <a:pt x="3150870" y="0"/>
                  </a:lnTo>
                  <a:lnTo>
                    <a:pt x="3150870" y="4022090"/>
                  </a:lnTo>
                  <a:lnTo>
                    <a:pt x="0" y="4022090"/>
                  </a:lnTo>
                  <a:lnTo>
                    <a:pt x="0" y="0"/>
                  </a:lnTo>
                  <a:close/>
                </a:path>
              </a:pathLst>
            </a:custGeom>
            <a:blipFill>
              <a:blip r:embed="rId2"/>
              <a:stretch>
                <a:fillRect l="-22369" t="-52715" r="-23836" b="0"/>
              </a:stretch>
            </a:blipFill>
          </p:spPr>
        </p:sp>
      </p:grpSp>
      <p:grpSp>
        <p:nvGrpSpPr>
          <p:cNvPr name="Group 14" id="14"/>
          <p:cNvGrpSpPr/>
          <p:nvPr/>
        </p:nvGrpSpPr>
        <p:grpSpPr>
          <a:xfrm rot="0">
            <a:off x="1028700" y="5585317"/>
            <a:ext cx="2363162" cy="3016577"/>
            <a:chOff x="0" y="0"/>
            <a:chExt cx="3150883" cy="4022103"/>
          </a:xfrm>
        </p:grpSpPr>
        <p:sp>
          <p:nvSpPr>
            <p:cNvPr name="Freeform 15" id="15"/>
            <p:cNvSpPr/>
            <p:nvPr/>
          </p:nvSpPr>
          <p:spPr>
            <a:xfrm flipH="false" flipV="false" rot="0">
              <a:off x="0" y="0"/>
              <a:ext cx="3150870" cy="4022090"/>
            </a:xfrm>
            <a:custGeom>
              <a:avLst/>
              <a:gdLst/>
              <a:ahLst/>
              <a:cxnLst/>
              <a:rect r="r" b="b" t="t" l="l"/>
              <a:pathLst>
                <a:path h="4022090" w="3150870">
                  <a:moveTo>
                    <a:pt x="0" y="0"/>
                  </a:moveTo>
                  <a:lnTo>
                    <a:pt x="3150870" y="0"/>
                  </a:lnTo>
                  <a:lnTo>
                    <a:pt x="3150870" y="4022090"/>
                  </a:lnTo>
                  <a:lnTo>
                    <a:pt x="0" y="4022090"/>
                  </a:lnTo>
                  <a:lnTo>
                    <a:pt x="0" y="0"/>
                  </a:lnTo>
                  <a:close/>
                </a:path>
              </a:pathLst>
            </a:custGeom>
            <a:blipFill>
              <a:blip r:embed="rId3"/>
              <a:stretch>
                <a:fillRect l="0" t="-28920" r="0" b="-29741"/>
              </a:stretch>
            </a:blipFill>
          </p:spPr>
        </p:sp>
      </p:grpSp>
      <p:grpSp>
        <p:nvGrpSpPr>
          <p:cNvPr name="Group 16" id="16"/>
          <p:cNvGrpSpPr/>
          <p:nvPr/>
        </p:nvGrpSpPr>
        <p:grpSpPr>
          <a:xfrm rot="0">
            <a:off x="9448800" y="5585317"/>
            <a:ext cx="2363162" cy="3016577"/>
            <a:chOff x="0" y="0"/>
            <a:chExt cx="3150883" cy="4022103"/>
          </a:xfrm>
        </p:grpSpPr>
        <p:sp>
          <p:nvSpPr>
            <p:cNvPr name="Freeform 17" id="17"/>
            <p:cNvSpPr/>
            <p:nvPr/>
          </p:nvSpPr>
          <p:spPr>
            <a:xfrm flipH="false" flipV="false" rot="0">
              <a:off x="0" y="0"/>
              <a:ext cx="3150870" cy="4022090"/>
            </a:xfrm>
            <a:custGeom>
              <a:avLst/>
              <a:gdLst/>
              <a:ahLst/>
              <a:cxnLst/>
              <a:rect r="r" b="b" t="t" l="l"/>
              <a:pathLst>
                <a:path h="4022090" w="3150870">
                  <a:moveTo>
                    <a:pt x="0" y="0"/>
                  </a:moveTo>
                  <a:lnTo>
                    <a:pt x="3150870" y="0"/>
                  </a:lnTo>
                  <a:lnTo>
                    <a:pt x="3150870" y="4022090"/>
                  </a:lnTo>
                  <a:lnTo>
                    <a:pt x="0" y="4022090"/>
                  </a:lnTo>
                  <a:lnTo>
                    <a:pt x="0" y="0"/>
                  </a:lnTo>
                  <a:close/>
                </a:path>
              </a:pathLst>
            </a:custGeom>
            <a:blipFill>
              <a:blip r:embed="rId4"/>
              <a:stretch>
                <a:fillRect l="0" t="-19634" r="0" b="-19634"/>
              </a:stretch>
            </a:blipFill>
          </p:spPr>
        </p:sp>
      </p:grpSp>
      <p:grpSp>
        <p:nvGrpSpPr>
          <p:cNvPr name="Group 18" id="18"/>
          <p:cNvGrpSpPr/>
          <p:nvPr/>
        </p:nvGrpSpPr>
        <p:grpSpPr>
          <a:xfrm rot="0">
            <a:off x="9315393" y="2126923"/>
            <a:ext cx="2363162" cy="3016577"/>
            <a:chOff x="0" y="0"/>
            <a:chExt cx="3150883" cy="4022103"/>
          </a:xfrm>
        </p:grpSpPr>
        <p:sp>
          <p:nvSpPr>
            <p:cNvPr name="Freeform 19" id="19"/>
            <p:cNvSpPr/>
            <p:nvPr/>
          </p:nvSpPr>
          <p:spPr>
            <a:xfrm flipH="false" flipV="false" rot="0">
              <a:off x="0" y="0"/>
              <a:ext cx="3150870" cy="4022090"/>
            </a:xfrm>
            <a:custGeom>
              <a:avLst/>
              <a:gdLst/>
              <a:ahLst/>
              <a:cxnLst/>
              <a:rect r="r" b="b" t="t" l="l"/>
              <a:pathLst>
                <a:path h="4022090" w="3150870">
                  <a:moveTo>
                    <a:pt x="0" y="0"/>
                  </a:moveTo>
                  <a:lnTo>
                    <a:pt x="3150870" y="0"/>
                  </a:lnTo>
                  <a:lnTo>
                    <a:pt x="3150870" y="4022090"/>
                  </a:lnTo>
                  <a:lnTo>
                    <a:pt x="0" y="4022090"/>
                  </a:lnTo>
                  <a:lnTo>
                    <a:pt x="0" y="0"/>
                  </a:lnTo>
                  <a:close/>
                </a:path>
              </a:pathLst>
            </a:custGeom>
            <a:blipFill>
              <a:blip r:embed="rId5"/>
              <a:stretch>
                <a:fillRect l="-50437" t="-9526" r="-51315" b="-101208"/>
              </a:stretch>
            </a:blipFill>
          </p:spPr>
        </p:sp>
      </p:grpSp>
      <p:sp>
        <p:nvSpPr>
          <p:cNvPr name="Freeform 20" id="20"/>
          <p:cNvSpPr/>
          <p:nvPr/>
        </p:nvSpPr>
        <p:spPr>
          <a:xfrm flipH="false" flipV="false" rot="0">
            <a:off x="12816254" y="252187"/>
            <a:ext cx="4766862" cy="1287053"/>
          </a:xfrm>
          <a:custGeom>
            <a:avLst/>
            <a:gdLst/>
            <a:ahLst/>
            <a:cxnLst/>
            <a:rect r="r" b="b" t="t" l="l"/>
            <a:pathLst>
              <a:path h="1287053" w="4766862">
                <a:moveTo>
                  <a:pt x="0" y="0"/>
                </a:moveTo>
                <a:lnTo>
                  <a:pt x="4766862" y="0"/>
                </a:lnTo>
                <a:lnTo>
                  <a:pt x="4766862" y="1287053"/>
                </a:lnTo>
                <a:lnTo>
                  <a:pt x="0" y="1287053"/>
                </a:lnTo>
                <a:lnTo>
                  <a:pt x="0" y="0"/>
                </a:lnTo>
                <a:close/>
              </a:path>
            </a:pathLst>
          </a:custGeom>
          <a:blipFill>
            <a:blip r:embed="rId6"/>
            <a:stretch>
              <a:fillRect l="0" t="0" r="0" b="0"/>
            </a:stretch>
          </a:blipFill>
        </p:spPr>
      </p:sp>
      <p:sp>
        <p:nvSpPr>
          <p:cNvPr name="TextBox 21" id="21"/>
          <p:cNvSpPr txBox="true"/>
          <p:nvPr/>
        </p:nvSpPr>
        <p:spPr>
          <a:xfrm rot="0">
            <a:off x="1830143" y="603028"/>
            <a:ext cx="6951126" cy="771525"/>
          </a:xfrm>
          <a:prstGeom prst="rect">
            <a:avLst/>
          </a:prstGeom>
        </p:spPr>
        <p:txBody>
          <a:bodyPr anchor="t" rtlCol="false" tIns="0" lIns="0" bIns="0" rIns="0">
            <a:spAutoFit/>
          </a:bodyPr>
          <a:lstStyle/>
          <a:p>
            <a:pPr algn="l">
              <a:lnSpc>
                <a:spcPts val="5759"/>
              </a:lnSpc>
            </a:pPr>
            <a:r>
              <a:rPr lang="en-US" b="true" sz="4800">
                <a:solidFill>
                  <a:srgbClr val="000000"/>
                </a:solidFill>
                <a:latin typeface="Poppins Bold"/>
                <a:ea typeface="Poppins Bold"/>
                <a:cs typeface="Poppins Bold"/>
                <a:sym typeface="Poppins Bold"/>
              </a:rPr>
              <a:t>TEAM</a:t>
            </a:r>
          </a:p>
        </p:txBody>
      </p:sp>
      <p:sp>
        <p:nvSpPr>
          <p:cNvPr name="TextBox 22" id="22"/>
          <p:cNvSpPr txBox="true"/>
          <p:nvPr/>
        </p:nvSpPr>
        <p:spPr>
          <a:xfrm rot="0">
            <a:off x="8260232" y="612553"/>
            <a:ext cx="521037" cy="581025"/>
          </a:xfrm>
          <a:prstGeom prst="rect">
            <a:avLst/>
          </a:prstGeom>
        </p:spPr>
        <p:txBody>
          <a:bodyPr anchor="t" rtlCol="false" tIns="0" lIns="0" bIns="0" rIns="0">
            <a:spAutoFit/>
          </a:bodyPr>
          <a:lstStyle/>
          <a:p>
            <a:pPr algn="ctr">
              <a:lnSpc>
                <a:spcPts val="4320"/>
              </a:lnSpc>
            </a:pPr>
            <a:r>
              <a:rPr lang="en-US" sz="3600" b="true">
                <a:solidFill>
                  <a:srgbClr val="000000"/>
                </a:solidFill>
                <a:latin typeface="Poppins Bold"/>
                <a:ea typeface="Poppins Bold"/>
                <a:cs typeface="Poppins Bold"/>
                <a:sym typeface="Poppins Bold"/>
              </a:rPr>
              <a:t>6</a:t>
            </a:r>
          </a:p>
        </p:txBody>
      </p:sp>
      <p:sp>
        <p:nvSpPr>
          <p:cNvPr name="TextBox 23" id="23"/>
          <p:cNvSpPr txBox="true"/>
          <p:nvPr/>
        </p:nvSpPr>
        <p:spPr>
          <a:xfrm rot="0">
            <a:off x="3466333" y="6128204"/>
            <a:ext cx="5837806" cy="1828800"/>
          </a:xfrm>
          <a:prstGeom prst="rect">
            <a:avLst/>
          </a:prstGeom>
        </p:spPr>
        <p:txBody>
          <a:bodyPr anchor="t" rtlCol="false" tIns="0" lIns="0" bIns="0" rIns="0">
            <a:spAutoFit/>
          </a:bodyPr>
          <a:lstStyle/>
          <a:p>
            <a:pPr algn="just">
              <a:lnSpc>
                <a:spcPts val="2879"/>
              </a:lnSpc>
            </a:pPr>
            <a:r>
              <a:rPr lang="en-US" sz="2400" b="true">
                <a:solidFill>
                  <a:srgbClr val="000000"/>
                </a:solidFill>
                <a:latin typeface="Poppins Bold"/>
                <a:ea typeface="Poppins Bold"/>
                <a:cs typeface="Poppins Bold"/>
                <a:sym typeface="Poppins Bold"/>
              </a:rPr>
              <a:t>Stephen Otiende</a:t>
            </a:r>
          </a:p>
          <a:p>
            <a:pPr algn="just">
              <a:lnSpc>
                <a:spcPts val="2879"/>
              </a:lnSpc>
            </a:pPr>
            <a:r>
              <a:rPr lang="en-US" sz="2400">
                <a:solidFill>
                  <a:srgbClr val="000000"/>
                </a:solidFill>
                <a:latin typeface="Poppins"/>
                <a:ea typeface="Poppins"/>
                <a:cs typeface="Poppins"/>
                <a:sym typeface="Poppins"/>
              </a:rPr>
              <a:t>Bachelor of Science in Business Information Technology</a:t>
            </a:r>
          </a:p>
          <a:p>
            <a:pPr algn="just">
              <a:lnSpc>
                <a:spcPts val="2879"/>
              </a:lnSpc>
            </a:pPr>
            <a:r>
              <a:rPr lang="en-US" sz="2400">
                <a:solidFill>
                  <a:srgbClr val="000000"/>
                </a:solidFill>
                <a:latin typeface="Poppins"/>
                <a:ea typeface="Poppins"/>
                <a:cs typeface="Poppins"/>
                <a:sym typeface="Poppins"/>
              </a:rPr>
              <a:t>Fourth Year</a:t>
            </a:r>
          </a:p>
          <a:p>
            <a:pPr algn="just">
              <a:lnSpc>
                <a:spcPts val="2879"/>
              </a:lnSpc>
            </a:pPr>
            <a:r>
              <a:rPr lang="en-US" sz="2400">
                <a:solidFill>
                  <a:srgbClr val="000000"/>
                </a:solidFill>
                <a:latin typeface="Poppins"/>
                <a:ea typeface="Poppins"/>
                <a:cs typeface="Poppins"/>
                <a:sym typeface="Poppins"/>
              </a:rPr>
              <a:t>Web Developer</a:t>
            </a:r>
          </a:p>
        </p:txBody>
      </p:sp>
      <p:sp>
        <p:nvSpPr>
          <p:cNvPr name="TextBox 24" id="24"/>
          <p:cNvSpPr txBox="true"/>
          <p:nvPr/>
        </p:nvSpPr>
        <p:spPr>
          <a:xfrm rot="0">
            <a:off x="11745230" y="2691103"/>
            <a:ext cx="7461361" cy="1876425"/>
          </a:xfrm>
          <a:prstGeom prst="rect">
            <a:avLst/>
          </a:prstGeom>
        </p:spPr>
        <p:txBody>
          <a:bodyPr anchor="t" rtlCol="false" tIns="0" lIns="0" bIns="0" rIns="0">
            <a:spAutoFit/>
          </a:bodyPr>
          <a:lstStyle/>
          <a:p>
            <a:pPr algn="just">
              <a:lnSpc>
                <a:spcPts val="2999"/>
              </a:lnSpc>
            </a:pPr>
            <a:r>
              <a:rPr lang="en-US" sz="2499" b="true">
                <a:solidFill>
                  <a:srgbClr val="000000"/>
                </a:solidFill>
                <a:latin typeface="Poppins Bold"/>
                <a:ea typeface="Poppins Bold"/>
                <a:cs typeface="Poppins Bold"/>
                <a:sym typeface="Poppins Bold"/>
              </a:rPr>
              <a:t>Cal</a:t>
            </a:r>
            <a:r>
              <a:rPr lang="en-US" sz="2499" b="true">
                <a:solidFill>
                  <a:srgbClr val="000000"/>
                </a:solidFill>
                <a:latin typeface="Poppins Bold"/>
                <a:ea typeface="Poppins Bold"/>
                <a:cs typeface="Poppins Bold"/>
                <a:sym typeface="Poppins Bold"/>
              </a:rPr>
              <a:t>ton Ariga</a:t>
            </a:r>
          </a:p>
          <a:p>
            <a:pPr algn="just">
              <a:lnSpc>
                <a:spcPts val="2999"/>
              </a:lnSpc>
            </a:pPr>
            <a:r>
              <a:rPr lang="en-US" sz="2499">
                <a:solidFill>
                  <a:srgbClr val="000000"/>
                </a:solidFill>
                <a:latin typeface="Poppins"/>
                <a:ea typeface="Poppins"/>
                <a:cs typeface="Poppins"/>
                <a:sym typeface="Poppins"/>
              </a:rPr>
              <a:t>Bachelor of Science in Computer </a:t>
            </a:r>
          </a:p>
          <a:p>
            <a:pPr algn="just">
              <a:lnSpc>
                <a:spcPts val="2999"/>
              </a:lnSpc>
            </a:pPr>
            <a:r>
              <a:rPr lang="en-US" sz="2499">
                <a:solidFill>
                  <a:srgbClr val="000000"/>
                </a:solidFill>
                <a:latin typeface="Poppins"/>
                <a:ea typeface="Poppins"/>
                <a:cs typeface="Poppins"/>
                <a:sym typeface="Poppins"/>
              </a:rPr>
              <a:t>Science</a:t>
            </a:r>
          </a:p>
          <a:p>
            <a:pPr algn="just">
              <a:lnSpc>
                <a:spcPts val="2999"/>
              </a:lnSpc>
            </a:pPr>
            <a:r>
              <a:rPr lang="en-US" sz="2499">
                <a:solidFill>
                  <a:srgbClr val="000000"/>
                </a:solidFill>
                <a:latin typeface="Poppins"/>
                <a:ea typeface="Poppins"/>
                <a:cs typeface="Poppins"/>
                <a:sym typeface="Poppins"/>
              </a:rPr>
              <a:t>Third Year</a:t>
            </a:r>
          </a:p>
          <a:p>
            <a:pPr algn="just">
              <a:lnSpc>
                <a:spcPts val="2999"/>
              </a:lnSpc>
            </a:pPr>
            <a:r>
              <a:rPr lang="en-US" sz="2499">
                <a:solidFill>
                  <a:srgbClr val="000000"/>
                </a:solidFill>
                <a:latin typeface="Poppins"/>
                <a:ea typeface="Poppins"/>
                <a:cs typeface="Poppins"/>
                <a:sym typeface="Poppins"/>
              </a:rPr>
              <a:t>Software Engineer and Mobile Developer</a:t>
            </a:r>
          </a:p>
        </p:txBody>
      </p:sp>
      <p:sp>
        <p:nvSpPr>
          <p:cNvPr name="TextBox 25" id="25"/>
          <p:cNvSpPr txBox="true"/>
          <p:nvPr/>
        </p:nvSpPr>
        <p:spPr>
          <a:xfrm rot="0">
            <a:off x="3382337" y="2506723"/>
            <a:ext cx="5707913" cy="2247900"/>
          </a:xfrm>
          <a:prstGeom prst="rect">
            <a:avLst/>
          </a:prstGeom>
        </p:spPr>
        <p:txBody>
          <a:bodyPr anchor="t" rtlCol="false" tIns="0" lIns="0" bIns="0" rIns="0">
            <a:spAutoFit/>
          </a:bodyPr>
          <a:lstStyle/>
          <a:p>
            <a:pPr algn="just">
              <a:lnSpc>
                <a:spcPts val="2999"/>
              </a:lnSpc>
            </a:pPr>
            <a:r>
              <a:rPr lang="en-US" sz="2499" b="true">
                <a:solidFill>
                  <a:srgbClr val="000000"/>
                </a:solidFill>
                <a:latin typeface="Poppins Bold"/>
                <a:ea typeface="Poppins Bold"/>
                <a:cs typeface="Poppins Bold"/>
                <a:sym typeface="Poppins Bold"/>
              </a:rPr>
              <a:t>Pius  Karoki</a:t>
            </a:r>
          </a:p>
          <a:p>
            <a:pPr algn="just">
              <a:lnSpc>
                <a:spcPts val="2999"/>
              </a:lnSpc>
            </a:pPr>
            <a:r>
              <a:rPr lang="en-US" sz="2499">
                <a:solidFill>
                  <a:srgbClr val="000000"/>
                </a:solidFill>
                <a:latin typeface="Poppins"/>
                <a:ea typeface="Poppins"/>
                <a:cs typeface="Poppins"/>
                <a:sym typeface="Poppins"/>
              </a:rPr>
              <a:t>Bachelor of Science in Computer Science</a:t>
            </a:r>
          </a:p>
          <a:p>
            <a:pPr algn="just">
              <a:lnSpc>
                <a:spcPts val="2999"/>
              </a:lnSpc>
            </a:pPr>
            <a:r>
              <a:rPr lang="en-US" sz="2499">
                <a:solidFill>
                  <a:srgbClr val="000000"/>
                </a:solidFill>
                <a:latin typeface="Poppins"/>
                <a:ea typeface="Poppins"/>
                <a:cs typeface="Poppins"/>
                <a:sym typeface="Poppins"/>
              </a:rPr>
              <a:t>Fourth Year</a:t>
            </a:r>
          </a:p>
          <a:p>
            <a:pPr algn="just">
              <a:lnSpc>
                <a:spcPts val="2999"/>
              </a:lnSpc>
            </a:pPr>
            <a:r>
              <a:rPr lang="en-US" sz="2499">
                <a:solidFill>
                  <a:srgbClr val="000000"/>
                </a:solidFill>
                <a:latin typeface="Poppins"/>
                <a:ea typeface="Poppins"/>
                <a:cs typeface="Poppins"/>
                <a:sym typeface="Poppins"/>
              </a:rPr>
              <a:t>Software Engineer and Mobile Developer</a:t>
            </a:r>
          </a:p>
        </p:txBody>
      </p:sp>
      <p:sp>
        <p:nvSpPr>
          <p:cNvPr name="TextBox 26" id="26"/>
          <p:cNvSpPr txBox="true"/>
          <p:nvPr/>
        </p:nvSpPr>
        <p:spPr>
          <a:xfrm rot="0">
            <a:off x="11897687" y="6128204"/>
            <a:ext cx="5447338" cy="1828800"/>
          </a:xfrm>
          <a:prstGeom prst="rect">
            <a:avLst/>
          </a:prstGeom>
        </p:spPr>
        <p:txBody>
          <a:bodyPr anchor="t" rtlCol="false" tIns="0" lIns="0" bIns="0" rIns="0">
            <a:spAutoFit/>
          </a:bodyPr>
          <a:lstStyle/>
          <a:p>
            <a:pPr algn="just">
              <a:lnSpc>
                <a:spcPts val="2879"/>
              </a:lnSpc>
            </a:pPr>
            <a:r>
              <a:rPr lang="en-US" sz="2400" b="true">
                <a:solidFill>
                  <a:srgbClr val="000000"/>
                </a:solidFill>
                <a:latin typeface="Poppins Bold"/>
                <a:ea typeface="Poppins Bold"/>
                <a:cs typeface="Poppins Bold"/>
                <a:sym typeface="Poppins Bold"/>
              </a:rPr>
              <a:t>Brenda Cherono</a:t>
            </a:r>
          </a:p>
          <a:p>
            <a:pPr algn="just">
              <a:lnSpc>
                <a:spcPts val="2879"/>
              </a:lnSpc>
            </a:pPr>
            <a:r>
              <a:rPr lang="en-US" sz="2400">
                <a:solidFill>
                  <a:srgbClr val="000000"/>
                </a:solidFill>
                <a:latin typeface="Poppins"/>
                <a:ea typeface="Poppins"/>
                <a:cs typeface="Poppins"/>
                <a:sym typeface="Poppins"/>
              </a:rPr>
              <a:t>Bachelor of Science in Computer Science</a:t>
            </a:r>
          </a:p>
          <a:p>
            <a:pPr algn="just">
              <a:lnSpc>
                <a:spcPts val="2879"/>
              </a:lnSpc>
            </a:pPr>
            <a:r>
              <a:rPr lang="en-US" sz="2400">
                <a:solidFill>
                  <a:srgbClr val="000000"/>
                </a:solidFill>
                <a:latin typeface="Poppins"/>
                <a:ea typeface="Poppins"/>
                <a:cs typeface="Poppins"/>
                <a:sym typeface="Poppins"/>
              </a:rPr>
              <a:t>Second Year</a:t>
            </a:r>
          </a:p>
          <a:p>
            <a:pPr algn="just">
              <a:lnSpc>
                <a:spcPts val="2879"/>
              </a:lnSpc>
            </a:pPr>
            <a:r>
              <a:rPr lang="en-US" sz="2400">
                <a:solidFill>
                  <a:srgbClr val="000000"/>
                </a:solidFill>
                <a:latin typeface="Poppins"/>
                <a:ea typeface="Poppins"/>
                <a:cs typeface="Poppins"/>
                <a:sym typeface="Poppins"/>
              </a:rPr>
              <a:t>Software Engineer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5714" cy="10285714"/>
            <a:chOff x="0" y="0"/>
            <a:chExt cx="24380952" cy="13714286"/>
          </a:xfrm>
        </p:grpSpPr>
        <p:sp>
          <p:nvSpPr>
            <p:cNvPr name="Freeform 3" id="3"/>
            <p:cNvSpPr/>
            <p:nvPr/>
          </p:nvSpPr>
          <p:spPr>
            <a:xfrm flipH="false" flipV="false" rot="0">
              <a:off x="0" y="0"/>
              <a:ext cx="24380952" cy="13714222"/>
            </a:xfrm>
            <a:custGeom>
              <a:avLst/>
              <a:gdLst/>
              <a:ahLst/>
              <a:cxnLst/>
              <a:rect r="r" b="b" t="t" l="l"/>
              <a:pathLst>
                <a:path h="13714222" w="24380952">
                  <a:moveTo>
                    <a:pt x="0" y="0"/>
                  </a:moveTo>
                  <a:lnTo>
                    <a:pt x="24380952" y="0"/>
                  </a:lnTo>
                  <a:lnTo>
                    <a:pt x="24380952" y="13714222"/>
                  </a:lnTo>
                  <a:lnTo>
                    <a:pt x="0" y="13714222"/>
                  </a:lnTo>
                  <a:lnTo>
                    <a:pt x="0" y="0"/>
                  </a:lnTo>
                  <a:close/>
                </a:path>
              </a:pathLst>
            </a:custGeom>
            <a:blipFill>
              <a:blip r:embed="rId2">
                <a:alphaModFix amt="30099"/>
              </a:blip>
              <a:stretch>
                <a:fillRect l="0" t="0" r="0" b="0"/>
              </a:stretch>
            </a:blipFill>
          </p:spPr>
        </p:sp>
      </p:grpSp>
      <p:grpSp>
        <p:nvGrpSpPr>
          <p:cNvPr name="Group 4" id="4"/>
          <p:cNvGrpSpPr/>
          <p:nvPr/>
        </p:nvGrpSpPr>
        <p:grpSpPr>
          <a:xfrm rot="0">
            <a:off x="0" y="375066"/>
            <a:ext cx="8514112" cy="1246537"/>
            <a:chOff x="0" y="0"/>
            <a:chExt cx="11352149" cy="1662049"/>
          </a:xfrm>
        </p:grpSpPr>
        <p:sp>
          <p:nvSpPr>
            <p:cNvPr name="Freeform 5" id="5"/>
            <p:cNvSpPr/>
            <p:nvPr/>
          </p:nvSpPr>
          <p:spPr>
            <a:xfrm flipH="false" flipV="false" rot="0">
              <a:off x="0" y="0"/>
              <a:ext cx="11352149" cy="1662049"/>
            </a:xfrm>
            <a:custGeom>
              <a:avLst/>
              <a:gdLst/>
              <a:ahLst/>
              <a:cxnLst/>
              <a:rect r="r" b="b" t="t" l="l"/>
              <a:pathLst>
                <a:path h="1662049" w="11352149">
                  <a:moveTo>
                    <a:pt x="0" y="0"/>
                  </a:moveTo>
                  <a:lnTo>
                    <a:pt x="11352149" y="0"/>
                  </a:lnTo>
                  <a:lnTo>
                    <a:pt x="11352149" y="1662049"/>
                  </a:lnTo>
                  <a:lnTo>
                    <a:pt x="0" y="1662049"/>
                  </a:lnTo>
                  <a:close/>
                </a:path>
              </a:pathLst>
            </a:custGeom>
            <a:solidFill>
              <a:srgbClr val="54E9CD"/>
            </a:solidFill>
          </p:spPr>
        </p:sp>
      </p:grpSp>
      <p:grpSp>
        <p:nvGrpSpPr>
          <p:cNvPr name="Group 6" id="6"/>
          <p:cNvGrpSpPr/>
          <p:nvPr/>
        </p:nvGrpSpPr>
        <p:grpSpPr>
          <a:xfrm rot="0">
            <a:off x="7897501" y="375066"/>
            <a:ext cx="1246442" cy="1246442"/>
            <a:chOff x="0" y="0"/>
            <a:chExt cx="1661922" cy="1661922"/>
          </a:xfrm>
        </p:grpSpPr>
        <p:sp>
          <p:nvSpPr>
            <p:cNvPr name="Freeform 7" id="7"/>
            <p:cNvSpPr/>
            <p:nvPr/>
          </p:nvSpPr>
          <p:spPr>
            <a:xfrm flipH="false" flipV="false" rot="0">
              <a:off x="0" y="0"/>
              <a:ext cx="1661922" cy="1661922"/>
            </a:xfrm>
            <a:custGeom>
              <a:avLst/>
              <a:gdLst/>
              <a:ahLst/>
              <a:cxnLst/>
              <a:rect r="r" b="b" t="t" l="l"/>
              <a:pathLst>
                <a:path h="1661922" w="1661922">
                  <a:moveTo>
                    <a:pt x="0" y="830961"/>
                  </a:moveTo>
                  <a:cubicBezTo>
                    <a:pt x="0" y="1289939"/>
                    <a:pt x="372110" y="1661922"/>
                    <a:pt x="830961" y="1661922"/>
                  </a:cubicBezTo>
                  <a:cubicBezTo>
                    <a:pt x="1289812" y="1661922"/>
                    <a:pt x="1661922" y="1289812"/>
                    <a:pt x="1661922" y="830961"/>
                  </a:cubicBezTo>
                  <a:cubicBezTo>
                    <a:pt x="1661922" y="372110"/>
                    <a:pt x="1289939" y="0"/>
                    <a:pt x="830961" y="0"/>
                  </a:cubicBezTo>
                  <a:cubicBezTo>
                    <a:pt x="371983" y="0"/>
                    <a:pt x="0" y="372110"/>
                    <a:pt x="0" y="830961"/>
                  </a:cubicBezTo>
                  <a:close/>
                </a:path>
              </a:pathLst>
            </a:custGeom>
            <a:solidFill>
              <a:srgbClr val="54E9CD"/>
            </a:solidFill>
          </p:spPr>
        </p:sp>
      </p:grpSp>
      <p:grpSp>
        <p:nvGrpSpPr>
          <p:cNvPr name="Group 8" id="8"/>
          <p:cNvGrpSpPr/>
          <p:nvPr/>
        </p:nvGrpSpPr>
        <p:grpSpPr>
          <a:xfrm rot="0">
            <a:off x="7979826" y="457390"/>
            <a:ext cx="1081850" cy="1081850"/>
            <a:chOff x="0" y="0"/>
            <a:chExt cx="1442466" cy="1442466"/>
          </a:xfrm>
        </p:grpSpPr>
        <p:sp>
          <p:nvSpPr>
            <p:cNvPr name="Freeform 9" id="9"/>
            <p:cNvSpPr/>
            <p:nvPr/>
          </p:nvSpPr>
          <p:spPr>
            <a:xfrm flipH="false" flipV="false" rot="0">
              <a:off x="0" y="0"/>
              <a:ext cx="1442466" cy="1442466"/>
            </a:xfrm>
            <a:custGeom>
              <a:avLst/>
              <a:gdLst/>
              <a:ahLst/>
              <a:cxnLst/>
              <a:rect r="r" b="b" t="t" l="l"/>
              <a:pathLst>
                <a:path h="1442466" w="1442466">
                  <a:moveTo>
                    <a:pt x="0" y="721233"/>
                  </a:moveTo>
                  <a:cubicBezTo>
                    <a:pt x="0" y="1119505"/>
                    <a:pt x="322961" y="1442466"/>
                    <a:pt x="721233" y="1442466"/>
                  </a:cubicBezTo>
                  <a:cubicBezTo>
                    <a:pt x="1119505" y="1442466"/>
                    <a:pt x="1442466" y="1119505"/>
                    <a:pt x="1442466" y="721233"/>
                  </a:cubicBezTo>
                  <a:cubicBezTo>
                    <a:pt x="1442466" y="322961"/>
                    <a:pt x="1119505" y="0"/>
                    <a:pt x="721233" y="0"/>
                  </a:cubicBezTo>
                  <a:cubicBezTo>
                    <a:pt x="322961" y="0"/>
                    <a:pt x="0" y="322961"/>
                    <a:pt x="0" y="721233"/>
                  </a:cubicBezTo>
                  <a:close/>
                </a:path>
              </a:pathLst>
            </a:custGeom>
            <a:solidFill>
              <a:srgbClr val="FFFFFF"/>
            </a:solidFill>
          </p:spPr>
        </p:sp>
      </p:grpSp>
      <p:grpSp>
        <p:nvGrpSpPr>
          <p:cNvPr name="Group 10" id="10"/>
          <p:cNvGrpSpPr/>
          <p:nvPr/>
        </p:nvGrpSpPr>
        <p:grpSpPr>
          <a:xfrm rot="0">
            <a:off x="1740665" y="2247900"/>
            <a:ext cx="14081208" cy="7010400"/>
            <a:chOff x="0" y="0"/>
            <a:chExt cx="18774943" cy="9347200"/>
          </a:xfrm>
        </p:grpSpPr>
        <p:sp>
          <p:nvSpPr>
            <p:cNvPr name="Freeform 11" id="11"/>
            <p:cNvSpPr/>
            <p:nvPr/>
          </p:nvSpPr>
          <p:spPr>
            <a:xfrm flipH="false" flipV="false" rot="0">
              <a:off x="50800" y="50800"/>
              <a:ext cx="18673445" cy="9245600"/>
            </a:xfrm>
            <a:custGeom>
              <a:avLst/>
              <a:gdLst/>
              <a:ahLst/>
              <a:cxnLst/>
              <a:rect r="r" b="b" t="t" l="l"/>
              <a:pathLst>
                <a:path h="9245600" w="18673445">
                  <a:moveTo>
                    <a:pt x="0" y="1541018"/>
                  </a:moveTo>
                  <a:cubicBezTo>
                    <a:pt x="0" y="689864"/>
                    <a:pt x="693674" y="0"/>
                    <a:pt x="1549527" y="0"/>
                  </a:cubicBezTo>
                  <a:lnTo>
                    <a:pt x="17123918" y="0"/>
                  </a:lnTo>
                  <a:cubicBezTo>
                    <a:pt x="17979644" y="0"/>
                    <a:pt x="18673445" y="689864"/>
                    <a:pt x="18673445" y="1541018"/>
                  </a:cubicBezTo>
                  <a:lnTo>
                    <a:pt x="18673445" y="7704582"/>
                  </a:lnTo>
                  <a:cubicBezTo>
                    <a:pt x="18673445" y="8555609"/>
                    <a:pt x="17979771" y="9245600"/>
                    <a:pt x="17123918" y="9245600"/>
                  </a:cubicBezTo>
                  <a:lnTo>
                    <a:pt x="1549527" y="9245600"/>
                  </a:lnTo>
                  <a:cubicBezTo>
                    <a:pt x="693674" y="9245600"/>
                    <a:pt x="0" y="8555736"/>
                    <a:pt x="0" y="7704582"/>
                  </a:cubicBezTo>
                  <a:close/>
                </a:path>
              </a:pathLst>
            </a:custGeom>
            <a:solidFill>
              <a:srgbClr val="FFFFFF">
                <a:alpha val="56078"/>
              </a:srgbClr>
            </a:solidFill>
          </p:spPr>
        </p:sp>
        <p:sp>
          <p:nvSpPr>
            <p:cNvPr name="Freeform 12" id="12"/>
            <p:cNvSpPr/>
            <p:nvPr/>
          </p:nvSpPr>
          <p:spPr>
            <a:xfrm flipH="false" flipV="false" rot="0">
              <a:off x="0" y="0"/>
              <a:ext cx="18775045" cy="9347200"/>
            </a:xfrm>
            <a:custGeom>
              <a:avLst/>
              <a:gdLst/>
              <a:ahLst/>
              <a:cxnLst/>
              <a:rect r="r" b="b" t="t" l="l"/>
              <a:pathLst>
                <a:path h="9347200" w="18775045">
                  <a:moveTo>
                    <a:pt x="0" y="1591818"/>
                  </a:moveTo>
                  <a:cubicBezTo>
                    <a:pt x="0" y="712343"/>
                    <a:pt x="716788" y="0"/>
                    <a:pt x="1600327" y="0"/>
                  </a:cubicBezTo>
                  <a:lnTo>
                    <a:pt x="17174718" y="0"/>
                  </a:lnTo>
                  <a:lnTo>
                    <a:pt x="17174718" y="50800"/>
                  </a:lnTo>
                  <a:lnTo>
                    <a:pt x="17174718" y="0"/>
                  </a:lnTo>
                  <a:cubicBezTo>
                    <a:pt x="18058256" y="0"/>
                    <a:pt x="18775045" y="712343"/>
                    <a:pt x="18775045" y="1591818"/>
                  </a:cubicBezTo>
                  <a:lnTo>
                    <a:pt x="18724245" y="1591818"/>
                  </a:lnTo>
                  <a:lnTo>
                    <a:pt x="18775045" y="1591818"/>
                  </a:lnTo>
                  <a:lnTo>
                    <a:pt x="18775045" y="7755382"/>
                  </a:lnTo>
                  <a:lnTo>
                    <a:pt x="18724245" y="7755382"/>
                  </a:lnTo>
                  <a:lnTo>
                    <a:pt x="18775045" y="7755382"/>
                  </a:lnTo>
                  <a:cubicBezTo>
                    <a:pt x="18775045" y="8634730"/>
                    <a:pt x="18058256" y="9347200"/>
                    <a:pt x="17174718" y="9347200"/>
                  </a:cubicBezTo>
                  <a:lnTo>
                    <a:pt x="17174718" y="9296400"/>
                  </a:lnTo>
                  <a:lnTo>
                    <a:pt x="17174718" y="9347200"/>
                  </a:lnTo>
                  <a:lnTo>
                    <a:pt x="1600327" y="9347200"/>
                  </a:lnTo>
                  <a:lnTo>
                    <a:pt x="1600327" y="9296400"/>
                  </a:lnTo>
                  <a:lnTo>
                    <a:pt x="1600327" y="9347200"/>
                  </a:lnTo>
                  <a:cubicBezTo>
                    <a:pt x="716788" y="9347200"/>
                    <a:pt x="0" y="8634857"/>
                    <a:pt x="0" y="7755382"/>
                  </a:cubicBezTo>
                  <a:lnTo>
                    <a:pt x="0" y="1591818"/>
                  </a:lnTo>
                  <a:lnTo>
                    <a:pt x="50800" y="1591818"/>
                  </a:lnTo>
                  <a:lnTo>
                    <a:pt x="0" y="1591818"/>
                  </a:lnTo>
                  <a:moveTo>
                    <a:pt x="101600" y="1591818"/>
                  </a:moveTo>
                  <a:lnTo>
                    <a:pt x="101600" y="7755382"/>
                  </a:lnTo>
                  <a:lnTo>
                    <a:pt x="50800" y="7755382"/>
                  </a:lnTo>
                  <a:lnTo>
                    <a:pt x="101600" y="7755382"/>
                  </a:lnTo>
                  <a:cubicBezTo>
                    <a:pt x="101600" y="8578215"/>
                    <a:pt x="772287" y="9245600"/>
                    <a:pt x="1600327" y="9245600"/>
                  </a:cubicBezTo>
                  <a:lnTo>
                    <a:pt x="17174718" y="9245600"/>
                  </a:lnTo>
                  <a:cubicBezTo>
                    <a:pt x="18002631" y="9245600"/>
                    <a:pt x="18673445" y="8578215"/>
                    <a:pt x="18673445" y="7755382"/>
                  </a:cubicBezTo>
                  <a:lnTo>
                    <a:pt x="18673445" y="1591818"/>
                  </a:lnTo>
                  <a:cubicBezTo>
                    <a:pt x="18673318" y="768985"/>
                    <a:pt x="18002631" y="101600"/>
                    <a:pt x="17174718" y="101600"/>
                  </a:cubicBezTo>
                  <a:lnTo>
                    <a:pt x="1600327" y="101600"/>
                  </a:lnTo>
                  <a:lnTo>
                    <a:pt x="1600327" y="50800"/>
                  </a:lnTo>
                  <a:lnTo>
                    <a:pt x="1600327" y="101600"/>
                  </a:lnTo>
                  <a:cubicBezTo>
                    <a:pt x="772287" y="101600"/>
                    <a:pt x="101600" y="768985"/>
                    <a:pt x="101600" y="1591818"/>
                  </a:cubicBezTo>
                  <a:close/>
                </a:path>
              </a:pathLst>
            </a:custGeom>
            <a:solidFill>
              <a:srgbClr val="54E9CD"/>
            </a:solidFill>
          </p:spPr>
        </p:sp>
      </p:grpSp>
      <p:sp>
        <p:nvSpPr>
          <p:cNvPr name="TextBox 13" id="13"/>
          <p:cNvSpPr txBox="true"/>
          <p:nvPr/>
        </p:nvSpPr>
        <p:spPr>
          <a:xfrm rot="0">
            <a:off x="2247119" y="3000375"/>
            <a:ext cx="13068300" cy="5476875"/>
          </a:xfrm>
          <a:prstGeom prst="rect">
            <a:avLst/>
          </a:prstGeom>
        </p:spPr>
        <p:txBody>
          <a:bodyPr anchor="t" rtlCol="false" tIns="0" lIns="0" bIns="0" rIns="0">
            <a:spAutoFit/>
          </a:bodyPr>
          <a:lstStyle/>
          <a:p>
            <a:pPr algn="l" marL="712470" indent="-356235" lvl="1">
              <a:lnSpc>
                <a:spcPts val="3960"/>
              </a:lnSpc>
              <a:buFont typeface="Arial"/>
              <a:buChar char="•"/>
            </a:pPr>
            <a:r>
              <a:rPr lang="en-US" b="true" sz="3300">
                <a:solidFill>
                  <a:srgbClr val="000000"/>
                </a:solidFill>
                <a:latin typeface="Poppins Bold"/>
                <a:ea typeface="Poppins Bold"/>
                <a:cs typeface="Poppins Bold"/>
                <a:sym typeface="Poppins Bold"/>
              </a:rPr>
              <a:t>Reducing wasted time and money </a:t>
            </a:r>
            <a:r>
              <a:rPr lang="en-US" sz="3300">
                <a:solidFill>
                  <a:srgbClr val="000000"/>
                </a:solidFill>
                <a:latin typeface="Poppins"/>
                <a:ea typeface="Poppins"/>
                <a:cs typeface="Poppins"/>
                <a:sym typeface="Poppins"/>
              </a:rPr>
              <a:t>– Helping individuals make smarter daily decisions.</a:t>
            </a:r>
          </a:p>
          <a:p>
            <a:pPr algn="l" marL="712470" indent="-356235" lvl="1">
              <a:lnSpc>
                <a:spcPts val="3960"/>
              </a:lnSpc>
              <a:buFont typeface="Arial"/>
              <a:buChar char="•"/>
            </a:pPr>
            <a:r>
              <a:rPr lang="en-US" b="true" sz="3300">
                <a:solidFill>
                  <a:srgbClr val="000000"/>
                </a:solidFill>
                <a:latin typeface="Poppins Bold"/>
                <a:ea typeface="Poppins Bold"/>
                <a:cs typeface="Poppins Bold"/>
                <a:sym typeface="Poppins Bold"/>
              </a:rPr>
              <a:t>Promoting responsible behavior and goal alignment</a:t>
            </a:r>
            <a:r>
              <a:rPr lang="en-US" sz="3300">
                <a:solidFill>
                  <a:srgbClr val="000000"/>
                </a:solidFill>
                <a:latin typeface="Poppins"/>
                <a:ea typeface="Poppins"/>
                <a:cs typeface="Poppins"/>
                <a:sym typeface="Poppins"/>
              </a:rPr>
              <a:t>– Encouraging accountability through guided choices and user overrides.</a:t>
            </a:r>
          </a:p>
          <a:p>
            <a:pPr algn="l" marL="712470" indent="-356235" lvl="1">
              <a:lnSpc>
                <a:spcPts val="3960"/>
              </a:lnSpc>
              <a:buFont typeface="Arial"/>
              <a:buChar char="•"/>
            </a:pPr>
            <a:r>
              <a:rPr lang="en-US" b="true" sz="3300">
                <a:solidFill>
                  <a:srgbClr val="000000"/>
                </a:solidFill>
                <a:latin typeface="Poppins Bold"/>
                <a:ea typeface="Poppins Bold"/>
                <a:cs typeface="Poppins Bold"/>
                <a:sym typeface="Poppins Bold"/>
              </a:rPr>
              <a:t>Supporting students and professionals</a:t>
            </a:r>
            <a:r>
              <a:rPr lang="en-US" sz="3300">
                <a:solidFill>
                  <a:srgbClr val="000000"/>
                </a:solidFill>
                <a:latin typeface="Poppins"/>
                <a:ea typeface="Poppins"/>
                <a:cs typeface="Poppins"/>
                <a:sym typeface="Poppins"/>
              </a:rPr>
              <a:t> – Improving study habits, work productivity, and financial decisions.</a:t>
            </a:r>
          </a:p>
          <a:p>
            <a:pPr algn="l" marL="712470" indent="-356235" lvl="1">
              <a:lnSpc>
                <a:spcPts val="3960"/>
              </a:lnSpc>
              <a:buFont typeface="Arial"/>
              <a:buChar char="•"/>
            </a:pPr>
            <a:r>
              <a:rPr lang="en-US" b="true" sz="3300">
                <a:solidFill>
                  <a:srgbClr val="000000"/>
                </a:solidFill>
                <a:latin typeface="Poppins Bold"/>
                <a:ea typeface="Poppins Bold"/>
                <a:cs typeface="Poppins Bold"/>
                <a:sym typeface="Poppins Bold"/>
              </a:rPr>
              <a:t>Fostering a healthier decision-making culture</a:t>
            </a:r>
            <a:r>
              <a:rPr lang="en-US" sz="3300">
                <a:solidFill>
                  <a:srgbClr val="000000"/>
                </a:solidFill>
                <a:latin typeface="Poppins"/>
                <a:ea typeface="Poppins"/>
                <a:cs typeface="Poppins"/>
                <a:sym typeface="Poppins"/>
              </a:rPr>
              <a:t> – Reducing impulsivity and promoting thoughtful choices in everyday life.</a:t>
            </a:r>
          </a:p>
          <a:p>
            <a:pPr algn="l">
              <a:lnSpc>
                <a:spcPts val="3960"/>
              </a:lnSpc>
            </a:pPr>
          </a:p>
        </p:txBody>
      </p:sp>
      <p:sp>
        <p:nvSpPr>
          <p:cNvPr name="Freeform 14" id="14"/>
          <p:cNvSpPr/>
          <p:nvPr/>
        </p:nvSpPr>
        <p:spPr>
          <a:xfrm flipH="false" flipV="false" rot="0">
            <a:off x="12816254" y="223612"/>
            <a:ext cx="4766862" cy="1287053"/>
          </a:xfrm>
          <a:custGeom>
            <a:avLst/>
            <a:gdLst/>
            <a:ahLst/>
            <a:cxnLst/>
            <a:rect r="r" b="b" t="t" l="l"/>
            <a:pathLst>
              <a:path h="1287053" w="4766862">
                <a:moveTo>
                  <a:pt x="0" y="0"/>
                </a:moveTo>
                <a:lnTo>
                  <a:pt x="4766862" y="0"/>
                </a:lnTo>
                <a:lnTo>
                  <a:pt x="4766862" y="1287053"/>
                </a:lnTo>
                <a:lnTo>
                  <a:pt x="0" y="1287053"/>
                </a:lnTo>
                <a:lnTo>
                  <a:pt x="0" y="0"/>
                </a:lnTo>
                <a:close/>
              </a:path>
            </a:pathLst>
          </a:custGeom>
          <a:blipFill>
            <a:blip r:embed="rId3"/>
            <a:stretch>
              <a:fillRect l="0" t="0" r="0" b="0"/>
            </a:stretch>
          </a:blipFill>
        </p:spPr>
      </p:sp>
      <p:sp>
        <p:nvSpPr>
          <p:cNvPr name="TextBox 15" id="15"/>
          <p:cNvSpPr txBox="true"/>
          <p:nvPr/>
        </p:nvSpPr>
        <p:spPr>
          <a:xfrm rot="0">
            <a:off x="1740665" y="619125"/>
            <a:ext cx="3048250" cy="771525"/>
          </a:xfrm>
          <a:prstGeom prst="rect">
            <a:avLst/>
          </a:prstGeom>
        </p:spPr>
        <p:txBody>
          <a:bodyPr anchor="t" rtlCol="false" tIns="0" lIns="0" bIns="0" rIns="0">
            <a:spAutoFit/>
          </a:bodyPr>
          <a:lstStyle/>
          <a:p>
            <a:pPr algn="l">
              <a:lnSpc>
                <a:spcPts val="5759"/>
              </a:lnSpc>
            </a:pPr>
            <a:r>
              <a:rPr lang="en-US" b="true" sz="4800">
                <a:solidFill>
                  <a:srgbClr val="000000"/>
                </a:solidFill>
                <a:latin typeface="Poppins Bold"/>
                <a:ea typeface="Poppins Bold"/>
                <a:cs typeface="Poppins Bold"/>
                <a:sym typeface="Poppins Bold"/>
              </a:rPr>
              <a:t>IMPACT</a:t>
            </a:r>
          </a:p>
        </p:txBody>
      </p:sp>
      <p:sp>
        <p:nvSpPr>
          <p:cNvPr name="TextBox 16" id="16"/>
          <p:cNvSpPr txBox="true"/>
          <p:nvPr/>
        </p:nvSpPr>
        <p:spPr>
          <a:xfrm rot="0">
            <a:off x="8260232" y="612553"/>
            <a:ext cx="521037" cy="581025"/>
          </a:xfrm>
          <a:prstGeom prst="rect">
            <a:avLst/>
          </a:prstGeom>
        </p:spPr>
        <p:txBody>
          <a:bodyPr anchor="t" rtlCol="false" tIns="0" lIns="0" bIns="0" rIns="0">
            <a:spAutoFit/>
          </a:bodyPr>
          <a:lstStyle/>
          <a:p>
            <a:pPr algn="ctr">
              <a:lnSpc>
                <a:spcPts val="4320"/>
              </a:lnSpc>
            </a:pPr>
            <a:r>
              <a:rPr lang="en-US" b="true" sz="3600">
                <a:solidFill>
                  <a:srgbClr val="000000"/>
                </a:solidFill>
                <a:latin typeface="Poppins Bold"/>
                <a:ea typeface="Poppins Bold"/>
                <a:cs typeface="Poppins Bold"/>
                <a:sym typeface="Poppins Bold"/>
              </a:rPr>
              <a:t>7</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198998" y="702043"/>
            <a:ext cx="4766862" cy="1287053"/>
          </a:xfrm>
          <a:custGeom>
            <a:avLst/>
            <a:gdLst/>
            <a:ahLst/>
            <a:cxnLst/>
            <a:rect r="r" b="b" t="t" l="l"/>
            <a:pathLst>
              <a:path h="1287053" w="4766862">
                <a:moveTo>
                  <a:pt x="0" y="0"/>
                </a:moveTo>
                <a:lnTo>
                  <a:pt x="4766862" y="0"/>
                </a:lnTo>
                <a:lnTo>
                  <a:pt x="4766862" y="1287052"/>
                </a:lnTo>
                <a:lnTo>
                  <a:pt x="0" y="1287052"/>
                </a:lnTo>
                <a:lnTo>
                  <a:pt x="0" y="0"/>
                </a:lnTo>
                <a:close/>
              </a:path>
            </a:pathLst>
          </a:custGeom>
          <a:blipFill>
            <a:blip r:embed="rId2"/>
            <a:stretch>
              <a:fillRect l="0" t="0" r="0" b="0"/>
            </a:stretch>
          </a:blipFill>
        </p:spPr>
      </p:sp>
      <p:sp>
        <p:nvSpPr>
          <p:cNvPr name="Freeform 3" id="3"/>
          <p:cNvSpPr/>
          <p:nvPr/>
        </p:nvSpPr>
        <p:spPr>
          <a:xfrm flipH="false" flipV="false" rot="0">
            <a:off x="6118134" y="1989095"/>
            <a:ext cx="5094871" cy="6172200"/>
          </a:xfrm>
          <a:custGeom>
            <a:avLst/>
            <a:gdLst/>
            <a:ahLst/>
            <a:cxnLst/>
            <a:rect r="r" b="b" t="t" l="l"/>
            <a:pathLst>
              <a:path h="6172200" w="5094871">
                <a:moveTo>
                  <a:pt x="0" y="0"/>
                </a:moveTo>
                <a:lnTo>
                  <a:pt x="5094871" y="0"/>
                </a:lnTo>
                <a:lnTo>
                  <a:pt x="5094871" y="6172200"/>
                </a:lnTo>
                <a:lnTo>
                  <a:pt x="0" y="6172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43" y="648"/>
            <a:ext cx="18285714" cy="10285714"/>
            <a:chOff x="0" y="0"/>
            <a:chExt cx="24380952" cy="13714286"/>
          </a:xfrm>
        </p:grpSpPr>
        <p:sp>
          <p:nvSpPr>
            <p:cNvPr name="Freeform 3" id="3"/>
            <p:cNvSpPr/>
            <p:nvPr/>
          </p:nvSpPr>
          <p:spPr>
            <a:xfrm flipH="false" flipV="false" rot="0">
              <a:off x="0" y="0"/>
              <a:ext cx="24380952" cy="13714222"/>
            </a:xfrm>
            <a:custGeom>
              <a:avLst/>
              <a:gdLst/>
              <a:ahLst/>
              <a:cxnLst/>
              <a:rect r="r" b="b" t="t" l="l"/>
              <a:pathLst>
                <a:path h="13714222" w="24380952">
                  <a:moveTo>
                    <a:pt x="0" y="0"/>
                  </a:moveTo>
                  <a:lnTo>
                    <a:pt x="24380952" y="0"/>
                  </a:lnTo>
                  <a:lnTo>
                    <a:pt x="24380952" y="13714222"/>
                  </a:lnTo>
                  <a:lnTo>
                    <a:pt x="0" y="13714222"/>
                  </a:lnTo>
                  <a:lnTo>
                    <a:pt x="0" y="0"/>
                  </a:lnTo>
                  <a:close/>
                </a:path>
              </a:pathLst>
            </a:custGeom>
            <a:blipFill>
              <a:blip r:embed="rId2">
                <a:alphaModFix amt="19999"/>
              </a:blip>
              <a:stretch>
                <a:fillRect l="-2354" t="0" r="-84090" b="-109636"/>
              </a:stretch>
            </a:blipFill>
          </p:spPr>
        </p:sp>
      </p:grpSp>
      <p:grpSp>
        <p:nvGrpSpPr>
          <p:cNvPr name="Group 4" id="4"/>
          <p:cNvGrpSpPr/>
          <p:nvPr/>
        </p:nvGrpSpPr>
        <p:grpSpPr>
          <a:xfrm rot="0">
            <a:off x="0" y="5483352"/>
            <a:ext cx="18288000" cy="4803667"/>
            <a:chOff x="0" y="0"/>
            <a:chExt cx="24384000" cy="6404889"/>
          </a:xfrm>
        </p:grpSpPr>
        <p:sp>
          <p:nvSpPr>
            <p:cNvPr name="Freeform 5" id="5"/>
            <p:cNvSpPr/>
            <p:nvPr/>
          </p:nvSpPr>
          <p:spPr>
            <a:xfrm flipH="false" flipV="false" rot="0">
              <a:off x="0" y="0"/>
              <a:ext cx="24384000" cy="6404864"/>
            </a:xfrm>
            <a:custGeom>
              <a:avLst/>
              <a:gdLst/>
              <a:ahLst/>
              <a:cxnLst/>
              <a:rect r="r" b="b" t="t" l="l"/>
              <a:pathLst>
                <a:path h="6404864" w="24384000">
                  <a:moveTo>
                    <a:pt x="0" y="0"/>
                  </a:moveTo>
                  <a:lnTo>
                    <a:pt x="24384000" y="0"/>
                  </a:lnTo>
                  <a:lnTo>
                    <a:pt x="24384000" y="6404864"/>
                  </a:lnTo>
                  <a:lnTo>
                    <a:pt x="0" y="6404864"/>
                  </a:lnTo>
                  <a:lnTo>
                    <a:pt x="0" y="0"/>
                  </a:lnTo>
                  <a:close/>
                </a:path>
              </a:pathLst>
            </a:custGeom>
            <a:solidFill>
              <a:srgbClr val="54E9CD">
                <a:alpha val="65882"/>
              </a:srgbClr>
            </a:solidFill>
          </p:spPr>
        </p:sp>
      </p:grpSp>
      <p:sp>
        <p:nvSpPr>
          <p:cNvPr name="Freeform 6" id="6"/>
          <p:cNvSpPr/>
          <p:nvPr/>
        </p:nvSpPr>
        <p:spPr>
          <a:xfrm flipH="false" flipV="false" rot="0">
            <a:off x="10340003" y="2625361"/>
            <a:ext cx="8443297" cy="2281972"/>
          </a:xfrm>
          <a:custGeom>
            <a:avLst/>
            <a:gdLst/>
            <a:ahLst/>
            <a:cxnLst/>
            <a:rect r="r" b="b" t="t" l="l"/>
            <a:pathLst>
              <a:path h="2281972" w="8443297">
                <a:moveTo>
                  <a:pt x="0" y="0"/>
                </a:moveTo>
                <a:lnTo>
                  <a:pt x="8443297" y="0"/>
                </a:lnTo>
                <a:lnTo>
                  <a:pt x="8443297" y="2281972"/>
                </a:lnTo>
                <a:lnTo>
                  <a:pt x="0" y="2281972"/>
                </a:lnTo>
                <a:lnTo>
                  <a:pt x="0" y="0"/>
                </a:lnTo>
                <a:close/>
              </a:path>
            </a:pathLst>
          </a:custGeom>
          <a:blipFill>
            <a:blip r:embed="rId3"/>
            <a:stretch>
              <a:fillRect l="0" t="0" r="0" b="0"/>
            </a:stretch>
          </a:blipFill>
        </p:spPr>
      </p:sp>
      <p:sp>
        <p:nvSpPr>
          <p:cNvPr name="TextBox 7" id="7"/>
          <p:cNvSpPr txBox="true"/>
          <p:nvPr/>
        </p:nvSpPr>
        <p:spPr>
          <a:xfrm rot="0">
            <a:off x="2033404" y="2994822"/>
            <a:ext cx="6723162" cy="1457325"/>
          </a:xfrm>
          <a:prstGeom prst="rect">
            <a:avLst/>
          </a:prstGeom>
        </p:spPr>
        <p:txBody>
          <a:bodyPr anchor="t" rtlCol="false" tIns="0" lIns="0" bIns="0" rIns="0">
            <a:spAutoFit/>
          </a:bodyPr>
          <a:lstStyle/>
          <a:p>
            <a:pPr algn="l">
              <a:lnSpc>
                <a:spcPts val="10800"/>
              </a:lnSpc>
            </a:pPr>
            <a:r>
              <a:rPr lang="en-US" b="true" sz="9000">
                <a:solidFill>
                  <a:srgbClr val="53DFC4"/>
                </a:solidFill>
                <a:latin typeface="Poppins Bold"/>
                <a:ea typeface="Poppins Bold"/>
                <a:cs typeface="Poppins Bold"/>
                <a:sym typeface="Poppins Bold"/>
              </a:rPr>
              <a:t>THANK YOU</a:t>
            </a:r>
          </a:p>
        </p:txBody>
      </p:sp>
      <p:sp>
        <p:nvSpPr>
          <p:cNvPr name="TextBox 8" id="8"/>
          <p:cNvSpPr txBox="true"/>
          <p:nvPr/>
        </p:nvSpPr>
        <p:spPr>
          <a:xfrm rot="0">
            <a:off x="4822186" y="6198124"/>
            <a:ext cx="12819858" cy="638175"/>
          </a:xfrm>
          <a:prstGeom prst="rect">
            <a:avLst/>
          </a:prstGeom>
        </p:spPr>
        <p:txBody>
          <a:bodyPr anchor="t" rtlCol="false" tIns="0" lIns="0" bIns="0" rIns="0">
            <a:spAutoFit/>
          </a:bodyPr>
          <a:lstStyle/>
          <a:p>
            <a:pPr algn="l">
              <a:lnSpc>
                <a:spcPts val="4799"/>
              </a:lnSpc>
            </a:pPr>
            <a:r>
              <a:rPr lang="en-US" sz="3999" b="true">
                <a:solidFill>
                  <a:srgbClr val="000000"/>
                </a:solidFill>
                <a:latin typeface="Poppins Bold"/>
                <a:ea typeface="Poppins Bold"/>
                <a:cs typeface="Poppins Bold"/>
                <a:sym typeface="Poppins Bold"/>
              </a:rPr>
              <a:t>“M</a:t>
            </a:r>
            <a:r>
              <a:rPr lang="en-US" b="true" sz="3999">
                <a:solidFill>
                  <a:srgbClr val="000000"/>
                </a:solidFill>
                <a:latin typeface="Poppins Bold"/>
                <a:ea typeface="Poppins Bold"/>
                <a:cs typeface="Poppins Bold"/>
                <a:sym typeface="Poppins Bold"/>
              </a:rPr>
              <a:t>ake better choices, every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DAHEYmUKjcY</dc:identifier>
  <dcterms:modified xsi:type="dcterms:W3CDTF">2011-08-01T06:04:30Z</dcterms:modified>
  <cp:revision>1</cp:revision>
  <dc:title>AUTOLIFE GUARDIAN  PPT</dc:title>
</cp:coreProperties>
</file>